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저희는 공개 해양 사이버사고 데이터 기반 자산유형별 위협 가시화 및 규제 연계 대응 지원 시스템을 연구했습니다. 공개 사고를 현장 대응에 활용할 수 있도록 정보를 가공하고 근거와 미확인 내용을 분리한 연구용 웹 프로토타입을 제작했습니다.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MCAD와 ADMIRAL은 이미 시각화 기능을 제공하고, Pijpker와 McCombie(2026)는 MCAD 선박사고의 Cyber Kill Chain 분석을 발표했습니다. 따라서 지도나 공격단계 분석 자체를 최초 기여라고 주장하지 않습니다. 해사 사고자료에 포함된 선내 침해와 외부 GNSS 전파교란을 구별하고, 출처의 확인 수준과 알려지지 않은 경로를 드러내면서 해기사 역할별 대응 맥락에 연결하는 문제를 다뤘습니다.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연구는 첫째 서로 다른 공개 자료를 2차 가공하고, 둘째 각 결과의 원문과 불확실성을 표시하며, 셋째 선박 운용자가 이해하기 쉬운 대응 카드와 탁상훈련으로 연결합니다. 실제 선박의 제어시스템에 공격하거나 자동으로 조종하지 않습니다. 교육적 효과는 아직 검증한 결과가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897은 MCAD와 ADMIRAL에서 취합한 데이터 행 수입니다. 이 중 1단계 제외 720, 2단계 제외 125, 3단계 제외 12로 총 857개가 제외되었습니다. 선별된 40개만 검수하면 제외 자료에서 빠진 관련 사건을 발견할 수 없으므로 층별 추가 표본 검토가 필요합니다. 그중 선박 관련 후보 177행을 선별했고, 현재 핵심 20행, 참고 14행, 자발적 AIS 비활성화 별도 6행으로 구성했습니다. 핵심 20행은 하나의 중복 묶음을 제외해 현재 계산상 19사건이지만, 사람이 독립적으로 검증하지 않은 잠정 값입니다. 원본의 관찰 편향 때문에 사고 발생률처럼 해석할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분포를 GitHub demo_data_v2.json에서 다시 계산하면 외부 무선 GNSS 교란 12행, AIS 정보 교란 7행, 선내 IT 악성코드 1행이며 선내 OT 침입이 확정된 핵심 기록은 없습니다. 이는 데이터 선별 알고리즘과 근거 등급 규칙에 따라 만들어진 표본입니다. 따라서 다섯 교육 시나리오를 실제 선내 OT 침해 다섯 건의 증거처럼 이야기할 수 없습니다. 추가로 제외된 857행에서 관련 사고가 잘못 제외됐는지 점검하는 검수 설계를 진행하고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연구에서 중요한 부분은 실제 사고 기록에 없는 최초 감염 경로나 공격자의 행위를 임의로 정답처럼 넣지 않는 것입니다. F는 해당 사건 원문에 직접 있는 사실, R은 다른 출처에서 참고한 정보, H는 훈련용 가정, U는 원문으로 알 수 없는 정보입니다. 여러 사례를 합쳐 만든 공격 흐름은 합성 시나리오로만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미국 해안경비대의 2019년 Marine Safety Alert 06-19은 상선에서 악성코드가 선내 컴퓨터의 기능을 크게 저하시켰지만 필수 선박 제어시스템에는 영향이 없었다고 명시합니다. USB를 검사 없이 사용하던 관행도 확인됐으나 그것이 실제 감염 시작 원인이라고 입증한 문장은 아닙니다. 따라서 훈련에서는 USB에 대한 주의를 제시하더라도 감염 경로는 미확인으로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구성은 웹 기반 데모이며 데이터 선별 및 시각화, 사례 정보, 해기사 대응 카드, 문서·조항 참고, 탁상훈련으로 연결됩니다. 지금 발표용 화면으로는 선별을 오래 보여주기보다 USCG 2019 한 건을 직접 조회해 원문과 사실·가정 표시를 짚고 탁상훈련으로 연결하는 것이 설득력이 높습니다. 기존 데이터와 독립적으로 서비스를 운영하는 상용 솔루션이라고 주장하지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시연은 실제 악성코드를 실행하거나 선박 설비를 조작하지 않는 브라우저 기반 탁상훈련입니다. 첫 장면에서 이상 PC 발견 시 대응을 선택하고, 두 번째에서 필수 항해·기관 장비에 영향을 미치는지 확인하며, 세 번째에서 회사 절차에 따라 보고하고 기록하는 판단을 다룹니다. 선택 뒤에 근거 있는 피드백을 제공하지만 실제 해기사 능력 향상은 별도로 실험하지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시스템에서는 관련 지침을 단순 열거하지 않고 문서 성격을 나눕니다. MSC-FAL Rev.4는 고수준 권고이고, MSC.428 결의는 SMS에 사이버 위험관리 고려를 반영하도록 주관청에 권고합니다. IACS E26/E27은 기본적으로 2024년 7월 1일 이후 건조계약 신조선에 적용되는 설계 및 장비 요건이므로 기존 운항 선박의 직접 조작 지시처럼 설명해서는 안 됩니다. BIMCO v5는 운항 관련 업계 지침으로 활용 가능합니다. 개별 연결 적절성은 전문가 검토 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 테스트는 코드·화면 기능을 점검한 결과이지 데이터 분류 정확도를 뜻하지 않습니다. JSON·CSV·제출용 Excel의 자동 점검 상태는 23 통과, 1 부분 확인, 3 미실시로 일치시켰습니다. 핵심 20행의 AI 원문 대조는 일치 18, 부분 2이며 미대조와 접근 실패는 0입니다. 현재 사람 2인 검수, 전문가 판정, 사용자 비교 실험은 미실시이며, 별도의 결과가 없는데 교육 효과가 입증됐다고 주장해서는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요약하면 저희는 공개 사고 기록을 직접 대응용 근거 자료로 바꾸기 위한 데이터 가공과 표시 구조를 구현했습니다. 특히 실제 사고 사실과 교육용 가정을 구분하고, 선내 역할별 대응 참고와 관련 규제를 한 흐름으로 살펴볼 수 있게 한 것이 현재 프로토타입의 가치입니다. 사람 검수와 전문가 적합성, 교육 효과는 아직 실험되지 않은 한계로 남겨두었습니다.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 ICCWS 논문은 MCAD 선박사고의 Cyber Kill Chain 분석을 발표한 직접 경쟁 선행연구입니다. 기존 연구와 차별점을 단순 사고 선별이나 공격단계 분석이 아닌, 원문 사실과 훈련 가정의 분리, 해기사 역할별 의사결정 및 규제 근거 조회로 제한해 설명해야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032"/>
        </a:solidFill>
      </p:bgPr>
    </p:bg>
    <p:spTree>
      <p:nvGrpSpPr>
        <p:cNvPr id="1" name=""/>
        <p:cNvGrpSpPr/>
        <p:nvPr/>
      </p:nvGrpSpPr>
      <p:grpSpPr>
        <a:xfrm>
          <a:off x="0" y="0"/>
          <a:ext cx="0" cy="0"/>
          <a:chOff x="0" y="0"/>
          <a:chExt cx="0" cy="0"/>
        </a:xfrm>
      </p:grpSpPr>
      <p:sp>
        <p:nvSpPr>
          <p:cNvPr id="2" name="Shape 0"/>
          <p:cNvSpPr/>
          <p:nvPr/>
        </p:nvSpPr>
        <p:spPr>
          <a:xfrm>
            <a:off x="621792" y="585216"/>
            <a:ext cx="128016" cy="914400"/>
          </a:xfrm>
          <a:prstGeom prst="roundRect">
            <a:avLst>
              <a:gd name="adj" fmla="val 107143"/>
            </a:avLst>
          </a:prstGeom>
          <a:solidFill>
            <a:srgbClr val="20A7B2"/>
          </a:solidFill>
          <a:ln w="12700">
            <a:solidFill>
              <a:srgbClr val="20A7B2">
                <a:alpha val="0"/>
              </a:srgbClr>
            </a:solidFill>
            <a:prstDash val="solid"/>
          </a:ln>
        </p:spPr>
      </p:sp>
      <p:sp>
        <p:nvSpPr>
          <p:cNvPr id="3" name="Text 1"/>
          <p:cNvSpPr txBox="1"/>
          <p:nvPr/>
        </p:nvSpPr>
        <p:spPr>
          <a:xfrm>
            <a:off x="932688" y="566928"/>
            <a:ext cx="6400800" cy="320040"/>
          </a:xfrm>
          <a:prstGeom prst="rect">
            <a:avLst/>
          </a:prstGeom>
          <a:noFill/>
          <a:ln/>
        </p:spPr>
        <p:txBody>
          <a:bodyPr wrap="square" lIns="0" tIns="0" rIns="0" bIns="0" rtlCol="0" anchor="ctr">
            <a:normAutofit/>
          </a:bodyPr>
          <a:lstStyle/>
          <a:p>
            <a:pPr algn="l" indent="0" marL="0">
              <a:buNone/>
            </a:pPr>
            <a:r>
              <a:rPr lang="en-US" sz="1300" b="1" spc="150" kern="0" dirty="0">
                <a:solidFill>
                  <a:srgbClr val="7FCED7"/>
                </a:solidFill>
                <a:latin typeface="Noto Sans CJK KR" pitchFamily="34" charset="0"/>
                <a:ea typeface="Noto Sans CJK KR" pitchFamily="34" charset="-122"/>
                <a:cs typeface="Noto Sans CJK KR" pitchFamily="34" charset="-120"/>
              </a:rPr>
              <a:t>GRADUATION RESEARCH · 2026</a:t>
            </a:r>
            <a:endParaRPr lang="en-US" sz="1300" dirty="0"/>
          </a:p>
        </p:txBody>
      </p:sp>
      <p:sp>
        <p:nvSpPr>
          <p:cNvPr id="4" name="Text 2"/>
          <p:cNvSpPr txBox="1"/>
          <p:nvPr/>
        </p:nvSpPr>
        <p:spPr>
          <a:xfrm>
            <a:off x="914400" y="1362456"/>
            <a:ext cx="10241280" cy="1463040"/>
          </a:xfrm>
          <a:prstGeom prst="rect">
            <a:avLst/>
          </a:prstGeom>
          <a:noFill/>
          <a:ln/>
        </p:spPr>
        <p:txBody>
          <a:bodyPr wrap="square" lIns="0" tIns="0" rIns="0" bIns="0" rtlCol="0" anchor="t">
            <a:normAutofit/>
          </a:bodyPr>
          <a:lstStyle/>
          <a:p>
            <a:pPr algn="l" indent="0" marL="0">
              <a:buNone/>
            </a:pPr>
            <a:r>
              <a:rPr lang="en-US" sz="2870" b="1" dirty="0">
                <a:solidFill>
                  <a:srgbClr val="FFFFFF"/>
                </a:solidFill>
                <a:latin typeface="Noto Sans CJK KR" pitchFamily="34" charset="0"/>
                <a:ea typeface="Noto Sans CJK KR" pitchFamily="34" charset="-122"/>
                <a:cs typeface="Noto Sans CJK KR" pitchFamily="34" charset="-120"/>
              </a:rPr>
              <a:t>공개 해양 사이버사고 데이터(MCAD/ADMIRAL) 기반</a:t>
            </a:r>
            <a:endParaRPr lang="en-US" sz="2870" dirty="0"/>
          </a:p>
          <a:p>
            <a:pPr algn="l" indent="0" marL="0">
              <a:buNone/>
            </a:pPr>
            <a:r>
              <a:rPr lang="en-US" sz="2870" b="1" dirty="0">
                <a:solidFill>
                  <a:srgbClr val="FFFFFF"/>
                </a:solidFill>
                <a:latin typeface="Noto Sans CJK KR" pitchFamily="34" charset="0"/>
                <a:ea typeface="Noto Sans CJK KR" pitchFamily="34" charset="-122"/>
                <a:cs typeface="Noto Sans CJK KR" pitchFamily="34" charset="-120"/>
              </a:rPr>
              <a:t>자산유형별 위협 가시화 및 규제 연계 대응 지원 시스템</a:t>
            </a:r>
            <a:endParaRPr lang="en-US" sz="2870" dirty="0"/>
          </a:p>
        </p:txBody>
      </p:sp>
      <p:sp>
        <p:nvSpPr>
          <p:cNvPr id="5" name="Text 3"/>
          <p:cNvSpPr txBox="1"/>
          <p:nvPr/>
        </p:nvSpPr>
        <p:spPr>
          <a:xfrm>
            <a:off x="932688" y="3346704"/>
            <a:ext cx="9601200" cy="502920"/>
          </a:xfrm>
          <a:prstGeom prst="rect">
            <a:avLst/>
          </a:prstGeom>
          <a:noFill/>
          <a:ln/>
        </p:spPr>
        <p:txBody>
          <a:bodyPr wrap="square" lIns="0" tIns="0" rIns="0" bIns="0" rtlCol="0" anchor="ctr">
            <a:normAutofit/>
          </a:bodyPr>
          <a:lstStyle/>
          <a:p>
            <a:pPr algn="l" indent="0" marL="0">
              <a:buNone/>
            </a:pPr>
            <a:r>
              <a:rPr lang="en-US" sz="1650" dirty="0">
                <a:solidFill>
                  <a:srgbClr val="BFD7E0"/>
                </a:solidFill>
                <a:latin typeface="Noto Sans CJK KR" pitchFamily="34" charset="0"/>
                <a:ea typeface="Noto Sans CJK KR" pitchFamily="34" charset="-122"/>
                <a:cs typeface="Noto Sans CJK KR" pitchFamily="34" charset="-120"/>
              </a:rPr>
              <a:t>MCAD · ADMIRAL | 근거 추적형 분석 · 해기사 대응 카드 · 탁상훈련</a:t>
            </a:r>
            <a:endParaRPr lang="en-US" sz="1650" dirty="0"/>
          </a:p>
        </p:txBody>
      </p:sp>
      <p:sp>
        <p:nvSpPr>
          <p:cNvPr id="6" name="Shape 4"/>
          <p:cNvSpPr/>
          <p:nvPr/>
        </p:nvSpPr>
        <p:spPr>
          <a:xfrm>
            <a:off x="932688" y="4892040"/>
            <a:ext cx="10204704" cy="0"/>
          </a:xfrm>
          <a:prstGeom prst="line">
            <a:avLst/>
          </a:prstGeom>
          <a:noFill/>
          <a:ln w="15240">
            <a:solidFill>
              <a:srgbClr val="49667B"/>
            </a:solidFill>
            <a:prstDash val="solid"/>
            <a:headEnd type="none"/>
            <a:tailEnd type="none"/>
          </a:ln>
        </p:spPr>
      </p:sp>
      <p:sp>
        <p:nvSpPr>
          <p:cNvPr id="7" name="Text 5"/>
          <p:cNvSpPr txBox="1"/>
          <p:nvPr/>
        </p:nvSpPr>
        <p:spPr>
          <a:xfrm>
            <a:off x="932688" y="5157216"/>
            <a:ext cx="8686800" cy="347472"/>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Noto Sans CJK KR" pitchFamily="34" charset="0"/>
                <a:ea typeface="Noto Sans CJK KR" pitchFamily="34" charset="-122"/>
                <a:cs typeface="Noto Sans CJK KR" pitchFamily="34" charset="-120"/>
              </a:rPr>
              <a:t>해양사이버보안 졸업논문 연구팀</a:t>
            </a:r>
            <a:endParaRPr lang="en-US" sz="1500" dirty="0"/>
          </a:p>
        </p:txBody>
      </p:sp>
      <p:sp>
        <p:nvSpPr>
          <p:cNvPr id="8" name="Text 6"/>
          <p:cNvSpPr txBox="1"/>
          <p:nvPr/>
        </p:nvSpPr>
        <p:spPr>
          <a:xfrm>
            <a:off x="932688" y="5833872"/>
            <a:ext cx="6400800" cy="274320"/>
          </a:xfrm>
          <a:prstGeom prst="rect">
            <a:avLst/>
          </a:prstGeom>
          <a:noFill/>
          <a:ln/>
        </p:spPr>
        <p:txBody>
          <a:bodyPr wrap="square" lIns="0" tIns="0" rIns="0" bIns="0" rtlCol="0" anchor="ctr">
            <a:normAutofit/>
          </a:bodyPr>
          <a:lstStyle/>
          <a:p>
            <a:pPr algn="l" indent="0" marL="0">
              <a:buNone/>
            </a:pPr>
            <a:r>
              <a:rPr lang="en-US" sz="1150" dirty="0">
                <a:solidFill>
                  <a:srgbClr val="A5C1CF"/>
                </a:solidFill>
                <a:latin typeface="Noto Sans CJK KR" pitchFamily="34" charset="0"/>
                <a:ea typeface="Noto Sans CJK KR" pitchFamily="34" charset="-122"/>
                <a:cs typeface="Noto Sans CJK KR" pitchFamily="34" charset="-120"/>
              </a:rPr>
              <a:t>2026. 11. 04  |  졸업논문 발표</a:t>
            </a:r>
            <a:endParaRPr lang="en-US" sz="1150" dirty="0"/>
          </a:p>
        </p:txBody>
      </p:sp>
      <p:sp>
        <p:nvSpPr>
          <p:cNvPr id="9" name="Shape 7"/>
          <p:cNvSpPr/>
          <p:nvPr/>
        </p:nvSpPr>
        <p:spPr>
          <a:xfrm>
            <a:off x="9400032" y="5742432"/>
            <a:ext cx="1737360" cy="347472"/>
          </a:xfrm>
          <a:prstGeom prst="roundRect">
            <a:avLst>
              <a:gd name="adj" fmla="val 39474"/>
            </a:avLst>
          </a:prstGeom>
          <a:solidFill>
            <a:srgbClr val="195C81"/>
          </a:solidFill>
          <a:ln w="12700">
            <a:solidFill>
              <a:srgbClr val="195C81">
                <a:alpha val="0"/>
              </a:srgbClr>
            </a:solidFill>
            <a:prstDash val="solid"/>
          </a:ln>
        </p:spPr>
      </p:sp>
      <p:sp>
        <p:nvSpPr>
          <p:cNvPr id="10" name="Text 8"/>
          <p:cNvSpPr txBox="1"/>
          <p:nvPr/>
        </p:nvSpPr>
        <p:spPr>
          <a:xfrm>
            <a:off x="9473184" y="5779008"/>
            <a:ext cx="1591056" cy="237744"/>
          </a:xfrm>
          <a:prstGeom prst="rect">
            <a:avLst/>
          </a:prstGeom>
          <a:noFill/>
          <a:ln/>
        </p:spPr>
        <p:txBody>
          <a:bodyPr wrap="square" lIns="0" tIns="0" rIns="0" bIns="0" rtlCol="0" anchor="ctr">
            <a:normAutofit/>
          </a:bodyPr>
          <a:lstStyle/>
          <a:p>
            <a:pPr algn="ctr" indent="0" marL="0">
              <a:buNone/>
            </a:pPr>
            <a:r>
              <a:rPr lang="en-US" sz="1030" b="1" dirty="0">
                <a:solidFill>
                  <a:srgbClr val="FFFFFF"/>
                </a:solidFill>
                <a:latin typeface="Noto Sans CJK KR" pitchFamily="34" charset="0"/>
                <a:ea typeface="Noto Sans CJK KR" pitchFamily="34" charset="-122"/>
                <a:cs typeface="Noto Sans CJK KR" pitchFamily="34" charset="-120"/>
              </a:rPr>
              <a:t>연구용 프로토타입</a:t>
            </a:r>
            <a:endParaRPr lang="en-US" sz="10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BACKGROUND</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문제는 데이터 부족이 아니라, 대응 판단으로의 연결입니다</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출처: NHL Stenden MCAD; M-CERT ADMIRAL; Pijpker &amp; McCombie (2026), ICCWS</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02</a:t>
            </a:r>
            <a:endParaRPr lang="en-US" sz="1000" dirty="0"/>
          </a:p>
        </p:txBody>
      </p:sp>
      <p:sp>
        <p:nvSpPr>
          <p:cNvPr id="8" name="Shape 6"/>
          <p:cNvSpPr/>
          <p:nvPr/>
        </p:nvSpPr>
        <p:spPr>
          <a:xfrm>
            <a:off x="667512" y="1709928"/>
            <a:ext cx="5212080" cy="3127248"/>
          </a:xfrm>
          <a:prstGeom prst="roundRect">
            <a:avLst>
              <a:gd name="adj" fmla="val 4386"/>
            </a:avLst>
          </a:prstGeom>
          <a:solidFill>
            <a:srgbClr val="FFFFFF"/>
          </a:solidFill>
          <a:ln w="12700">
            <a:solidFill>
              <a:srgbClr val="D7E2E9"/>
            </a:solidFill>
            <a:prstDash val="solid"/>
          </a:ln>
        </p:spPr>
      </p:sp>
      <p:sp>
        <p:nvSpPr>
          <p:cNvPr id="9" name="Shape 7"/>
          <p:cNvSpPr/>
          <p:nvPr/>
        </p:nvSpPr>
        <p:spPr>
          <a:xfrm>
            <a:off x="667512" y="1709928"/>
            <a:ext cx="73152" cy="3127248"/>
          </a:xfrm>
          <a:prstGeom prst="rect">
            <a:avLst/>
          </a:prstGeom>
          <a:solidFill>
            <a:srgbClr val="195C81"/>
          </a:solidFill>
          <a:ln w="12700">
            <a:solidFill>
              <a:srgbClr val="195C81">
                <a:alpha val="0"/>
              </a:srgbClr>
            </a:solidFill>
            <a:prstDash val="solid"/>
          </a:ln>
        </p:spPr>
      </p:sp>
      <p:sp>
        <p:nvSpPr>
          <p:cNvPr id="10" name="Text 8"/>
          <p:cNvSpPr txBox="1"/>
          <p:nvPr/>
        </p:nvSpPr>
        <p:spPr>
          <a:xfrm>
            <a:off x="868680" y="1865376"/>
            <a:ext cx="4809744" cy="420624"/>
          </a:xfrm>
          <a:prstGeom prst="rect">
            <a:avLst/>
          </a:prstGeom>
          <a:noFill/>
          <a:ln/>
        </p:spPr>
        <p:txBody>
          <a:bodyPr wrap="square" lIns="0" tIns="0" rIns="0" bIns="0" rtlCol="0" anchor="ctr">
            <a:normAutofit/>
          </a:bodyPr>
          <a:lstStyle/>
          <a:p>
            <a:pPr algn="l" indent="0" marL="0">
              <a:buNone/>
            </a:pPr>
            <a:r>
              <a:rPr lang="en-US" sz="1600" b="1" dirty="0">
                <a:solidFill>
                  <a:srgbClr val="112A3F"/>
                </a:solidFill>
                <a:latin typeface="Noto Sans CJK KR" pitchFamily="34" charset="0"/>
                <a:ea typeface="Noto Sans CJK KR" pitchFamily="34" charset="-122"/>
                <a:cs typeface="Noto Sans CJK KR" pitchFamily="34" charset="-120"/>
              </a:rPr>
              <a:t>기존 데이터베이스·선행연구</a:t>
            </a:r>
            <a:endParaRPr lang="en-US" sz="1600" dirty="0"/>
          </a:p>
        </p:txBody>
      </p:sp>
      <p:sp>
        <p:nvSpPr>
          <p:cNvPr id="11" name="Text 9"/>
          <p:cNvSpPr txBox="1"/>
          <p:nvPr/>
        </p:nvSpPr>
        <p:spPr>
          <a:xfrm>
            <a:off x="868680" y="2395728"/>
            <a:ext cx="4809744" cy="2295144"/>
          </a:xfrm>
          <a:prstGeom prst="rect">
            <a:avLst/>
          </a:prstGeom>
          <a:noFill/>
          <a:ln/>
        </p:spPr>
        <p:txBody>
          <a:bodyPr wrap="square" lIns="0" tIns="0" rIns="0" bIns="0" rtlCol="0" anchor="t">
            <a:normAutofit/>
          </a:bodyPr>
          <a:lstStyle/>
          <a:p>
            <a:pPr algn="l" indent="0" marL="0">
              <a:buNone/>
            </a:pPr>
            <a:r>
              <a:rPr lang="en-US" sz="1600" dirty="0">
                <a:solidFill>
                  <a:srgbClr val="173149"/>
                </a:solidFill>
                <a:latin typeface="Noto Sans CJK KR" pitchFamily="34" charset="0"/>
                <a:ea typeface="Noto Sans CJK KR" pitchFamily="34" charset="-122"/>
                <a:cs typeface="Noto Sans CJK KR" pitchFamily="34" charset="-120"/>
              </a:rPr>
              <a:t>MCAD: 사고 기록·지도 제공</a:t>
            </a:r>
            <a:endParaRPr lang="en-US" sz="1600" dirty="0"/>
          </a:p>
          <a:p>
            <a:pPr algn="l" indent="0" marL="0">
              <a:buNone/>
            </a:pPr>
            <a:r>
              <a:rPr lang="en-US" sz="1600" dirty="0">
                <a:solidFill>
                  <a:srgbClr val="173149"/>
                </a:solidFill>
                <a:latin typeface="Noto Sans CJK KR" pitchFamily="34" charset="0"/>
                <a:ea typeface="Noto Sans CJK KR" pitchFamily="34" charset="-122"/>
                <a:cs typeface="Noto Sans CJK KR" pitchFamily="34" charset="-120"/>
              </a:rPr>
              <a:t>ADMIRAL: 사고·지도·다양한 통계 제공</a:t>
            </a:r>
            <a:endParaRPr lang="en-US" sz="1600" dirty="0"/>
          </a:p>
          <a:p>
            <a:pPr algn="l" indent="0" marL="0">
              <a:buNone/>
            </a:pPr>
            <a:r>
              <a:rPr lang="en-US" sz="1600" dirty="0">
                <a:solidFill>
                  <a:srgbClr val="173149"/>
                </a:solidFill>
                <a:latin typeface="Noto Sans CJK KR" pitchFamily="34" charset="0"/>
                <a:ea typeface="Noto Sans CJK KR" pitchFamily="34" charset="-122"/>
                <a:cs typeface="Noto Sans CJK KR" pitchFamily="34" charset="-120"/>
              </a:rPr>
              <a:t>2026 ICCWS: MCAD 선박사고 Cyber Kill Chain 분석</a:t>
            </a:r>
            <a:endParaRPr lang="en-US" sz="1600" dirty="0"/>
          </a:p>
          <a:p>
            <a:pPr algn="l" indent="0" marL="0">
              <a:buNone/>
            </a:pPr>
            <a:r>
              <a:rPr lang="en-US" sz="1600" dirty="0">
                <a:solidFill>
                  <a:srgbClr val="173149"/>
                </a:solidFill>
                <a:latin typeface="Noto Sans CJK KR" pitchFamily="34" charset="0"/>
                <a:ea typeface="Noto Sans CJK KR" pitchFamily="34" charset="-122"/>
                <a:cs typeface="Noto Sans CJK KR" pitchFamily="34" charset="-120"/>
              </a:rPr>
              <a:t>→ 사고 선별·공격단계 분석도 기존 연구 존재</a:t>
            </a:r>
            <a:endParaRPr lang="en-US" sz="1600" dirty="0"/>
          </a:p>
        </p:txBody>
      </p:sp>
      <p:sp>
        <p:nvSpPr>
          <p:cNvPr id="12" name="Shape 10"/>
          <p:cNvSpPr/>
          <p:nvPr/>
        </p:nvSpPr>
        <p:spPr>
          <a:xfrm>
            <a:off x="6108192" y="1709928"/>
            <a:ext cx="5212080" cy="3127248"/>
          </a:xfrm>
          <a:prstGeom prst="roundRect">
            <a:avLst>
              <a:gd name="adj" fmla="val 4386"/>
            </a:avLst>
          </a:prstGeom>
          <a:solidFill>
            <a:srgbClr val="FFFFFF"/>
          </a:solidFill>
          <a:ln w="12700">
            <a:solidFill>
              <a:srgbClr val="D7E2E9"/>
            </a:solidFill>
            <a:prstDash val="solid"/>
          </a:ln>
        </p:spPr>
      </p:sp>
      <p:sp>
        <p:nvSpPr>
          <p:cNvPr id="13" name="Shape 11"/>
          <p:cNvSpPr/>
          <p:nvPr/>
        </p:nvSpPr>
        <p:spPr>
          <a:xfrm>
            <a:off x="6108192" y="1709928"/>
            <a:ext cx="73152" cy="3127248"/>
          </a:xfrm>
          <a:prstGeom prst="rect">
            <a:avLst/>
          </a:prstGeom>
          <a:solidFill>
            <a:srgbClr val="0C8A91"/>
          </a:solidFill>
          <a:ln w="12700">
            <a:solidFill>
              <a:srgbClr val="0C8A91">
                <a:alpha val="0"/>
              </a:srgbClr>
            </a:solidFill>
            <a:prstDash val="solid"/>
          </a:ln>
        </p:spPr>
      </p:sp>
      <p:sp>
        <p:nvSpPr>
          <p:cNvPr id="14" name="Text 12"/>
          <p:cNvSpPr txBox="1"/>
          <p:nvPr/>
        </p:nvSpPr>
        <p:spPr>
          <a:xfrm>
            <a:off x="6309360" y="1865376"/>
            <a:ext cx="4809744" cy="420624"/>
          </a:xfrm>
          <a:prstGeom prst="rect">
            <a:avLst/>
          </a:prstGeom>
          <a:noFill/>
          <a:ln/>
        </p:spPr>
        <p:txBody>
          <a:bodyPr wrap="square" lIns="0" tIns="0" rIns="0" bIns="0" rtlCol="0" anchor="ctr">
            <a:normAutofit/>
          </a:bodyPr>
          <a:lstStyle/>
          <a:p>
            <a:pPr algn="l" indent="0" marL="0">
              <a:buNone/>
            </a:pPr>
            <a:r>
              <a:rPr lang="en-US" sz="1600" b="1" dirty="0">
                <a:solidFill>
                  <a:srgbClr val="112A3F"/>
                </a:solidFill>
                <a:latin typeface="Noto Sans CJK KR" pitchFamily="34" charset="0"/>
                <a:ea typeface="Noto Sans CJK KR" pitchFamily="34" charset="-122"/>
                <a:cs typeface="Noto Sans CJK KR" pitchFamily="34" charset="-120"/>
              </a:rPr>
              <a:t>아직 남은 활용의 어려움</a:t>
            </a:r>
            <a:endParaRPr lang="en-US" sz="1600" dirty="0"/>
          </a:p>
        </p:txBody>
      </p:sp>
      <p:sp>
        <p:nvSpPr>
          <p:cNvPr id="15" name="Text 13"/>
          <p:cNvSpPr txBox="1"/>
          <p:nvPr/>
        </p:nvSpPr>
        <p:spPr>
          <a:xfrm>
            <a:off x="6309360" y="2395728"/>
            <a:ext cx="4809744" cy="2295144"/>
          </a:xfrm>
          <a:prstGeom prst="rect">
            <a:avLst/>
          </a:prstGeom>
          <a:noFill/>
          <a:ln/>
        </p:spPr>
        <p:txBody>
          <a:bodyPr wrap="square" lIns="0" tIns="0" rIns="0" bIns="0" rtlCol="0" anchor="t">
            <a:normAutofit/>
          </a:bodyPr>
          <a:lstStyle/>
          <a:p>
            <a:pPr algn="l" indent="0" marL="0">
              <a:buNone/>
            </a:pPr>
            <a:r>
              <a:rPr lang="en-US" sz="1600" dirty="0">
                <a:solidFill>
                  <a:srgbClr val="173149"/>
                </a:solidFill>
                <a:latin typeface="Noto Sans CJK KR" pitchFamily="34" charset="0"/>
                <a:ea typeface="Noto Sans CJK KR" pitchFamily="34" charset="-122"/>
                <a:cs typeface="Noto Sans CJK KR" pitchFamily="34" charset="-120"/>
              </a:rPr>
              <a:t>공격 피해 자산과 외부 전파교란의 혼재</a:t>
            </a:r>
            <a:endParaRPr lang="en-US" sz="1600" dirty="0"/>
          </a:p>
          <a:p>
            <a:pPr algn="l" indent="0" marL="0">
              <a:buNone/>
            </a:pPr>
            <a:r>
              <a:rPr lang="en-US" sz="1600" dirty="0">
                <a:solidFill>
                  <a:srgbClr val="173149"/>
                </a:solidFill>
                <a:latin typeface="Noto Sans CJK KR" pitchFamily="34" charset="0"/>
                <a:ea typeface="Noto Sans CJK KR" pitchFamily="34" charset="-122"/>
                <a:cs typeface="Noto Sans CJK KR" pitchFamily="34" charset="-120"/>
              </a:rPr>
              <a:t>사실·보도·추정·가상 조건의 경계 불명확</a:t>
            </a:r>
            <a:endParaRPr lang="en-US" sz="1600" dirty="0"/>
          </a:p>
          <a:p>
            <a:pPr algn="l" indent="0" marL="0">
              <a:buNone/>
            </a:pPr>
            <a:r>
              <a:rPr lang="en-US" sz="1600" dirty="0">
                <a:solidFill>
                  <a:srgbClr val="173149"/>
                </a:solidFill>
                <a:latin typeface="Noto Sans CJK KR" pitchFamily="34" charset="0"/>
                <a:ea typeface="Noto Sans CJK KR" pitchFamily="34" charset="-122"/>
                <a:cs typeface="Noto Sans CJK KR" pitchFamily="34" charset="-120"/>
              </a:rPr>
              <a:t>사고 기록을 선내 역할별 대응에 연결하기 어려움</a:t>
            </a:r>
            <a:endParaRPr lang="en-US" sz="1600" dirty="0"/>
          </a:p>
        </p:txBody>
      </p:sp>
      <p:sp>
        <p:nvSpPr>
          <p:cNvPr id="16" name="Shape 14"/>
          <p:cNvSpPr/>
          <p:nvPr/>
        </p:nvSpPr>
        <p:spPr>
          <a:xfrm>
            <a:off x="685800" y="5157216"/>
            <a:ext cx="10607040" cy="685800"/>
          </a:xfrm>
          <a:prstGeom prst="roundRect">
            <a:avLst>
              <a:gd name="adj" fmla="val 20000"/>
            </a:avLst>
          </a:prstGeom>
          <a:solidFill>
            <a:srgbClr val="E6F2F5"/>
          </a:solidFill>
          <a:ln w="12700">
            <a:solidFill>
              <a:srgbClr val="E6F2F5">
                <a:alpha val="0"/>
              </a:srgbClr>
            </a:solidFill>
            <a:prstDash val="solid"/>
          </a:ln>
        </p:spPr>
      </p:sp>
      <p:sp>
        <p:nvSpPr>
          <p:cNvPr id="17" name="Text 15"/>
          <p:cNvSpPr txBox="1"/>
          <p:nvPr/>
        </p:nvSpPr>
        <p:spPr>
          <a:xfrm>
            <a:off x="896112" y="5321808"/>
            <a:ext cx="10149840" cy="320040"/>
          </a:xfrm>
          <a:prstGeom prst="rect">
            <a:avLst/>
          </a:prstGeom>
          <a:noFill/>
          <a:ln/>
        </p:spPr>
        <p:txBody>
          <a:bodyPr wrap="square" lIns="0" tIns="0" rIns="0" bIns="0" rtlCol="0" anchor="ctr">
            <a:normAutofit/>
          </a:bodyPr>
          <a:lstStyle/>
          <a:p>
            <a:pPr algn="l" indent="0" marL="0">
              <a:buNone/>
            </a:pPr>
            <a:r>
              <a:rPr lang="en-US" sz="1600" b="1" dirty="0">
                <a:solidFill>
                  <a:srgbClr val="112A3F"/>
                </a:solidFill>
                <a:latin typeface="Noto Sans CJK KR" pitchFamily="34" charset="0"/>
                <a:ea typeface="Noto Sans CJK KR" pitchFamily="34" charset="-122"/>
                <a:cs typeface="Noto Sans CJK KR" pitchFamily="34" charset="-120"/>
              </a:rPr>
              <a:t>연구 질문  |  공개 사고 기록을 근거 추적이 가능한 선내 대응 참고정보로 2차 가공할 수 있는가?</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RESEARCH OBJECTIVE</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제안 시스템의 연구 목표와 범위</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연구 범위: 데이터 가공·조회·훈련 참고 기능 / 미수행: 실제 선박 실험·교육 효과 측정</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03</a:t>
            </a:r>
            <a:endParaRPr lang="en-US" sz="1000" dirty="0"/>
          </a:p>
        </p:txBody>
      </p:sp>
      <p:sp>
        <p:nvSpPr>
          <p:cNvPr id="8" name="Shape 6"/>
          <p:cNvSpPr/>
          <p:nvPr/>
        </p:nvSpPr>
        <p:spPr>
          <a:xfrm>
            <a:off x="658368" y="1828800"/>
            <a:ext cx="3429000" cy="2606040"/>
          </a:xfrm>
          <a:prstGeom prst="roundRect">
            <a:avLst>
              <a:gd name="adj" fmla="val 5263"/>
            </a:avLst>
          </a:prstGeom>
          <a:solidFill>
            <a:srgbClr val="FFFFFF"/>
          </a:solidFill>
          <a:ln w="12700">
            <a:solidFill>
              <a:srgbClr val="D7E2E9"/>
            </a:solidFill>
            <a:prstDash val="solid"/>
          </a:ln>
        </p:spPr>
      </p:sp>
      <p:sp>
        <p:nvSpPr>
          <p:cNvPr id="9" name="Shape 7"/>
          <p:cNvSpPr/>
          <p:nvPr/>
        </p:nvSpPr>
        <p:spPr>
          <a:xfrm>
            <a:off x="658368" y="1828800"/>
            <a:ext cx="3429000" cy="91440"/>
          </a:xfrm>
          <a:prstGeom prst="rect">
            <a:avLst/>
          </a:prstGeom>
          <a:solidFill>
            <a:srgbClr val="195C81"/>
          </a:solidFill>
          <a:ln w="12700">
            <a:solidFill>
              <a:srgbClr val="195C81">
                <a:alpha val="0"/>
              </a:srgbClr>
            </a:solidFill>
            <a:prstDash val="solid"/>
          </a:ln>
        </p:spPr>
      </p:sp>
      <p:sp>
        <p:nvSpPr>
          <p:cNvPr id="10" name="Text 8"/>
          <p:cNvSpPr txBox="1"/>
          <p:nvPr/>
        </p:nvSpPr>
        <p:spPr>
          <a:xfrm>
            <a:off x="886968" y="2212848"/>
            <a:ext cx="2926080" cy="530352"/>
          </a:xfrm>
          <a:prstGeom prst="rect">
            <a:avLst/>
          </a:prstGeom>
          <a:noFill/>
          <a:ln/>
        </p:spPr>
        <p:txBody>
          <a:bodyPr wrap="square" lIns="0" tIns="0" rIns="0" bIns="0" rtlCol="0" anchor="ctr">
            <a:normAutofit/>
          </a:bodyPr>
          <a:lstStyle/>
          <a:p>
            <a:pPr algn="l" indent="0" marL="0">
              <a:buNone/>
            </a:pPr>
            <a:r>
              <a:rPr lang="en-US" sz="2200" b="1" dirty="0">
                <a:solidFill>
                  <a:srgbClr val="112A3F"/>
                </a:solidFill>
                <a:latin typeface="Noto Sans CJK KR" pitchFamily="34" charset="0"/>
                <a:ea typeface="Noto Sans CJK KR" pitchFamily="34" charset="-122"/>
                <a:cs typeface="Noto Sans CJK KR" pitchFamily="34" charset="-120"/>
              </a:rPr>
              <a:t>01  데이터 선별</a:t>
            </a:r>
            <a:endParaRPr lang="en-US" sz="2200" dirty="0"/>
          </a:p>
        </p:txBody>
      </p:sp>
      <p:sp>
        <p:nvSpPr>
          <p:cNvPr id="11" name="Text 9"/>
          <p:cNvSpPr txBox="1"/>
          <p:nvPr/>
        </p:nvSpPr>
        <p:spPr>
          <a:xfrm>
            <a:off x="886968" y="3054096"/>
            <a:ext cx="2953512" cy="822960"/>
          </a:xfrm>
          <a:prstGeom prst="rect">
            <a:avLst/>
          </a:prstGeom>
          <a:noFill/>
          <a:ln/>
        </p:spPr>
        <p:txBody>
          <a:bodyPr wrap="square" lIns="0" tIns="0" rIns="0" bIns="0" rtlCol="0" anchor="t">
            <a:normAutofit/>
          </a:bodyPr>
          <a:lstStyle/>
          <a:p>
            <a:pPr algn="l" indent="0" marL="0">
              <a:buNone/>
            </a:pPr>
            <a:r>
              <a:rPr lang="en-US" sz="1550" dirty="0">
                <a:solidFill>
                  <a:srgbClr val="173149"/>
                </a:solidFill>
                <a:latin typeface="Noto Sans CJK KR" pitchFamily="34" charset="0"/>
                <a:ea typeface="Noto Sans CJK KR" pitchFamily="34" charset="-122"/>
                <a:cs typeface="Noto Sans CJK KR" pitchFamily="34" charset="-120"/>
              </a:rPr>
              <a:t>자산 및 위협 유형을 나누고</a:t>
            </a:r>
            <a:endParaRPr lang="en-US" sz="1550" dirty="0"/>
          </a:p>
          <a:p>
            <a:pPr algn="l" indent="0" marL="0">
              <a:buNone/>
            </a:pPr>
            <a:r>
              <a:rPr lang="en-US" sz="1550" dirty="0">
                <a:solidFill>
                  <a:srgbClr val="173149"/>
                </a:solidFill>
                <a:latin typeface="Noto Sans CJK KR" pitchFamily="34" charset="0"/>
                <a:ea typeface="Noto Sans CJK KR" pitchFamily="34" charset="-122"/>
                <a:cs typeface="Noto Sans CJK KR" pitchFamily="34" charset="-120"/>
              </a:rPr>
              <a:t>선박 관련 후보를 선별</a:t>
            </a:r>
            <a:endParaRPr lang="en-US" sz="1550" dirty="0"/>
          </a:p>
        </p:txBody>
      </p:sp>
      <p:sp>
        <p:nvSpPr>
          <p:cNvPr id="12" name="Shape 10"/>
          <p:cNvSpPr/>
          <p:nvPr/>
        </p:nvSpPr>
        <p:spPr>
          <a:xfrm>
            <a:off x="4389120" y="1828800"/>
            <a:ext cx="3429000" cy="2606040"/>
          </a:xfrm>
          <a:prstGeom prst="roundRect">
            <a:avLst>
              <a:gd name="adj" fmla="val 5263"/>
            </a:avLst>
          </a:prstGeom>
          <a:solidFill>
            <a:srgbClr val="FFFFFF"/>
          </a:solidFill>
          <a:ln w="12700">
            <a:solidFill>
              <a:srgbClr val="D7E2E9"/>
            </a:solidFill>
            <a:prstDash val="solid"/>
          </a:ln>
        </p:spPr>
      </p:sp>
      <p:sp>
        <p:nvSpPr>
          <p:cNvPr id="13" name="Shape 11"/>
          <p:cNvSpPr/>
          <p:nvPr/>
        </p:nvSpPr>
        <p:spPr>
          <a:xfrm>
            <a:off x="4389120" y="1828800"/>
            <a:ext cx="3429000" cy="91440"/>
          </a:xfrm>
          <a:prstGeom prst="rect">
            <a:avLst/>
          </a:prstGeom>
          <a:solidFill>
            <a:srgbClr val="0C8A91"/>
          </a:solidFill>
          <a:ln w="12700">
            <a:solidFill>
              <a:srgbClr val="0C8A91">
                <a:alpha val="0"/>
              </a:srgbClr>
            </a:solidFill>
            <a:prstDash val="solid"/>
          </a:ln>
        </p:spPr>
      </p:sp>
      <p:sp>
        <p:nvSpPr>
          <p:cNvPr id="14" name="Text 12"/>
          <p:cNvSpPr txBox="1"/>
          <p:nvPr/>
        </p:nvSpPr>
        <p:spPr>
          <a:xfrm>
            <a:off x="4617720" y="2212848"/>
            <a:ext cx="2926080" cy="530352"/>
          </a:xfrm>
          <a:prstGeom prst="rect">
            <a:avLst/>
          </a:prstGeom>
          <a:noFill/>
          <a:ln/>
        </p:spPr>
        <p:txBody>
          <a:bodyPr wrap="square" lIns="0" tIns="0" rIns="0" bIns="0" rtlCol="0" anchor="ctr">
            <a:normAutofit/>
          </a:bodyPr>
          <a:lstStyle/>
          <a:p>
            <a:pPr algn="l" indent="0" marL="0">
              <a:buNone/>
            </a:pPr>
            <a:r>
              <a:rPr lang="en-US" sz="2200" b="1" dirty="0">
                <a:solidFill>
                  <a:srgbClr val="112A3F"/>
                </a:solidFill>
                <a:latin typeface="Noto Sans CJK KR" pitchFamily="34" charset="0"/>
                <a:ea typeface="Noto Sans CJK KR" pitchFamily="34" charset="-122"/>
                <a:cs typeface="Noto Sans CJK KR" pitchFamily="34" charset="-120"/>
              </a:rPr>
              <a:t>02  근거 추적</a:t>
            </a:r>
            <a:endParaRPr lang="en-US" sz="2200" dirty="0"/>
          </a:p>
        </p:txBody>
      </p:sp>
      <p:sp>
        <p:nvSpPr>
          <p:cNvPr id="15" name="Text 13"/>
          <p:cNvSpPr txBox="1"/>
          <p:nvPr/>
        </p:nvSpPr>
        <p:spPr>
          <a:xfrm>
            <a:off x="4617720" y="3054096"/>
            <a:ext cx="2953512" cy="822960"/>
          </a:xfrm>
          <a:prstGeom prst="rect">
            <a:avLst/>
          </a:prstGeom>
          <a:noFill/>
          <a:ln/>
        </p:spPr>
        <p:txBody>
          <a:bodyPr wrap="square" lIns="0" tIns="0" rIns="0" bIns="0" rtlCol="0" anchor="t">
            <a:normAutofit/>
          </a:bodyPr>
          <a:lstStyle/>
          <a:p>
            <a:pPr algn="l" indent="0" marL="0">
              <a:buNone/>
            </a:pPr>
            <a:r>
              <a:rPr lang="en-US" sz="1550" dirty="0">
                <a:solidFill>
                  <a:srgbClr val="173149"/>
                </a:solidFill>
                <a:latin typeface="Noto Sans CJK KR" pitchFamily="34" charset="0"/>
                <a:ea typeface="Noto Sans CJK KR" pitchFamily="34" charset="-122"/>
                <a:cs typeface="Noto Sans CJK KR" pitchFamily="34" charset="-120"/>
              </a:rPr>
              <a:t>원문·출처 등급과</a:t>
            </a:r>
            <a:endParaRPr lang="en-US" sz="1550" dirty="0"/>
          </a:p>
          <a:p>
            <a:pPr algn="l" indent="0" marL="0">
              <a:buNone/>
            </a:pPr>
            <a:r>
              <a:rPr lang="en-US" sz="1550" dirty="0">
                <a:solidFill>
                  <a:srgbClr val="173149"/>
                </a:solidFill>
                <a:latin typeface="Noto Sans CJK KR" pitchFamily="34" charset="0"/>
                <a:ea typeface="Noto Sans CJK KR" pitchFamily="34" charset="-122"/>
                <a:cs typeface="Noto Sans CJK KR" pitchFamily="34" charset="-120"/>
              </a:rPr>
              <a:t>F/R/H/U 상태를 표시</a:t>
            </a:r>
            <a:endParaRPr lang="en-US" sz="1550" dirty="0"/>
          </a:p>
        </p:txBody>
      </p:sp>
      <p:sp>
        <p:nvSpPr>
          <p:cNvPr id="16" name="Shape 14"/>
          <p:cNvSpPr/>
          <p:nvPr/>
        </p:nvSpPr>
        <p:spPr>
          <a:xfrm>
            <a:off x="8119872" y="1828800"/>
            <a:ext cx="3429000" cy="2606040"/>
          </a:xfrm>
          <a:prstGeom prst="roundRect">
            <a:avLst>
              <a:gd name="adj" fmla="val 5263"/>
            </a:avLst>
          </a:prstGeom>
          <a:solidFill>
            <a:srgbClr val="FFFFFF"/>
          </a:solidFill>
          <a:ln w="12700">
            <a:solidFill>
              <a:srgbClr val="D7E2E9"/>
            </a:solidFill>
            <a:prstDash val="solid"/>
          </a:ln>
        </p:spPr>
      </p:sp>
      <p:sp>
        <p:nvSpPr>
          <p:cNvPr id="17" name="Shape 15"/>
          <p:cNvSpPr/>
          <p:nvPr/>
        </p:nvSpPr>
        <p:spPr>
          <a:xfrm>
            <a:off x="8119872" y="1828800"/>
            <a:ext cx="3429000" cy="91440"/>
          </a:xfrm>
          <a:prstGeom prst="rect">
            <a:avLst/>
          </a:prstGeom>
          <a:solidFill>
            <a:srgbClr val="B76A19"/>
          </a:solidFill>
          <a:ln w="12700">
            <a:solidFill>
              <a:srgbClr val="B76A19">
                <a:alpha val="0"/>
              </a:srgbClr>
            </a:solidFill>
            <a:prstDash val="solid"/>
          </a:ln>
        </p:spPr>
      </p:sp>
      <p:sp>
        <p:nvSpPr>
          <p:cNvPr id="18" name="Text 16"/>
          <p:cNvSpPr txBox="1"/>
          <p:nvPr/>
        </p:nvSpPr>
        <p:spPr>
          <a:xfrm>
            <a:off x="8348472" y="2212848"/>
            <a:ext cx="2926080" cy="530352"/>
          </a:xfrm>
          <a:prstGeom prst="rect">
            <a:avLst/>
          </a:prstGeom>
          <a:noFill/>
          <a:ln/>
        </p:spPr>
        <p:txBody>
          <a:bodyPr wrap="square" lIns="0" tIns="0" rIns="0" bIns="0" rtlCol="0" anchor="ctr">
            <a:normAutofit/>
          </a:bodyPr>
          <a:lstStyle/>
          <a:p>
            <a:pPr algn="l" indent="0" marL="0">
              <a:buNone/>
            </a:pPr>
            <a:r>
              <a:rPr lang="en-US" sz="2200" b="1" dirty="0">
                <a:solidFill>
                  <a:srgbClr val="112A3F"/>
                </a:solidFill>
                <a:latin typeface="Noto Sans CJK KR" pitchFamily="34" charset="0"/>
                <a:ea typeface="Noto Sans CJK KR" pitchFamily="34" charset="-122"/>
                <a:cs typeface="Noto Sans CJK KR" pitchFamily="34" charset="-120"/>
              </a:rPr>
              <a:t>03  대응 지원</a:t>
            </a:r>
            <a:endParaRPr lang="en-US" sz="2200" dirty="0"/>
          </a:p>
        </p:txBody>
      </p:sp>
      <p:sp>
        <p:nvSpPr>
          <p:cNvPr id="19" name="Text 17"/>
          <p:cNvSpPr txBox="1"/>
          <p:nvPr/>
        </p:nvSpPr>
        <p:spPr>
          <a:xfrm>
            <a:off x="8348472" y="3054096"/>
            <a:ext cx="2953512" cy="822960"/>
          </a:xfrm>
          <a:prstGeom prst="rect">
            <a:avLst/>
          </a:prstGeom>
          <a:noFill/>
          <a:ln/>
        </p:spPr>
        <p:txBody>
          <a:bodyPr wrap="square" lIns="0" tIns="0" rIns="0" bIns="0" rtlCol="0" anchor="t">
            <a:normAutofit/>
          </a:bodyPr>
          <a:lstStyle/>
          <a:p>
            <a:pPr algn="l" indent="0" marL="0">
              <a:buNone/>
            </a:pPr>
            <a:r>
              <a:rPr lang="en-US" sz="1550" dirty="0">
                <a:solidFill>
                  <a:srgbClr val="173149"/>
                </a:solidFill>
                <a:latin typeface="Noto Sans CJK KR" pitchFamily="34" charset="0"/>
                <a:ea typeface="Noto Sans CJK KR" pitchFamily="34" charset="-122"/>
                <a:cs typeface="Noto Sans CJK KR" pitchFamily="34" charset="-120"/>
              </a:rPr>
              <a:t>해기사 대응 카드·지침 조회</a:t>
            </a:r>
            <a:endParaRPr lang="en-US" sz="1550" dirty="0"/>
          </a:p>
          <a:p>
            <a:pPr algn="l" indent="0" marL="0">
              <a:buNone/>
            </a:pPr>
            <a:r>
              <a:rPr lang="en-US" sz="1550" dirty="0">
                <a:solidFill>
                  <a:srgbClr val="173149"/>
                </a:solidFill>
                <a:latin typeface="Noto Sans CJK KR" pitchFamily="34" charset="0"/>
                <a:ea typeface="Noto Sans CJK KR" pitchFamily="34" charset="-122"/>
                <a:cs typeface="Noto Sans CJK KR" pitchFamily="34" charset="-120"/>
              </a:rPr>
              <a:t>및 교육용 탁상훈련으로 연결</a:t>
            </a:r>
            <a:endParaRPr lang="en-US" sz="1550" dirty="0"/>
          </a:p>
        </p:txBody>
      </p:sp>
      <p:sp>
        <p:nvSpPr>
          <p:cNvPr id="20" name="Shape 18"/>
          <p:cNvSpPr/>
          <p:nvPr/>
        </p:nvSpPr>
        <p:spPr>
          <a:xfrm>
            <a:off x="667512" y="4855464"/>
            <a:ext cx="10881360" cy="694944"/>
          </a:xfrm>
          <a:prstGeom prst="roundRect">
            <a:avLst>
              <a:gd name="adj" fmla="val 19737"/>
            </a:avLst>
          </a:prstGeom>
          <a:solidFill>
            <a:srgbClr val="112A3F"/>
          </a:solidFill>
          <a:ln w="12700">
            <a:solidFill>
              <a:srgbClr val="112A3F">
                <a:alpha val="0"/>
              </a:srgbClr>
            </a:solidFill>
            <a:prstDash val="solid"/>
          </a:ln>
        </p:spPr>
      </p:sp>
      <p:sp>
        <p:nvSpPr>
          <p:cNvPr id="21" name="Text 19"/>
          <p:cNvSpPr txBox="1"/>
          <p:nvPr/>
        </p:nvSpPr>
        <p:spPr>
          <a:xfrm>
            <a:off x="932688" y="5010912"/>
            <a:ext cx="10424160" cy="310896"/>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Noto Sans CJK KR" pitchFamily="34" charset="0"/>
                <a:ea typeface="Noto Sans CJK KR" pitchFamily="34" charset="-122"/>
                <a:cs typeface="Noto Sans CJK KR" pitchFamily="34" charset="-120"/>
              </a:rPr>
              <a:t>최종 산출물: 근거를 확인할 수 있는 웹 기반 의사결정·교육 지원 프로토타입</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DATA PROCESSING</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897행은 사고 897건이 아닙니다</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2026-09-03 수집 스냅샷 / v2 AI 선별 결과, 2인 사람 검수 전</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04</a:t>
            </a:r>
            <a:endParaRPr lang="en-US" sz="1000" dirty="0"/>
          </a:p>
        </p:txBody>
      </p:sp>
      <p:sp>
        <p:nvSpPr>
          <p:cNvPr id="8" name="Shape 6"/>
          <p:cNvSpPr/>
          <p:nvPr/>
        </p:nvSpPr>
        <p:spPr>
          <a:xfrm>
            <a:off x="676656" y="1847088"/>
            <a:ext cx="2660904" cy="1673352"/>
          </a:xfrm>
          <a:prstGeom prst="roundRect">
            <a:avLst>
              <a:gd name="adj" fmla="val 8197"/>
            </a:avLst>
          </a:prstGeom>
          <a:solidFill>
            <a:srgbClr val="FFFFFF"/>
          </a:solidFill>
          <a:ln w="12700">
            <a:solidFill>
              <a:srgbClr val="D7E2E9"/>
            </a:solidFill>
            <a:prstDash val="solid"/>
          </a:ln>
        </p:spPr>
      </p:sp>
      <p:sp>
        <p:nvSpPr>
          <p:cNvPr id="9" name="Text 7"/>
          <p:cNvSpPr txBox="1"/>
          <p:nvPr/>
        </p:nvSpPr>
        <p:spPr>
          <a:xfrm>
            <a:off x="841248" y="2112264"/>
            <a:ext cx="2331720" cy="621792"/>
          </a:xfrm>
          <a:prstGeom prst="rect">
            <a:avLst/>
          </a:prstGeom>
          <a:noFill/>
          <a:ln/>
        </p:spPr>
        <p:txBody>
          <a:bodyPr wrap="square" lIns="0" tIns="0" rIns="0" bIns="0" rtlCol="0" anchor="ctr">
            <a:normAutofit/>
          </a:bodyPr>
          <a:lstStyle/>
          <a:p>
            <a:pPr algn="ctr" indent="0" marL="0">
              <a:buNone/>
            </a:pPr>
            <a:r>
              <a:rPr lang="en-US" sz="3600" b="1" dirty="0">
                <a:solidFill>
                  <a:srgbClr val="195C81"/>
                </a:solidFill>
                <a:latin typeface="Noto Sans CJK KR" pitchFamily="34" charset="0"/>
                <a:ea typeface="Noto Sans CJK KR" pitchFamily="34" charset="-122"/>
                <a:cs typeface="Noto Sans CJK KR" pitchFamily="34" charset="-120"/>
              </a:rPr>
              <a:t>897</a:t>
            </a:r>
            <a:endParaRPr lang="en-US" sz="3600" dirty="0"/>
          </a:p>
        </p:txBody>
      </p:sp>
      <p:sp>
        <p:nvSpPr>
          <p:cNvPr id="10" name="Text 8"/>
          <p:cNvSpPr txBox="1"/>
          <p:nvPr/>
        </p:nvSpPr>
        <p:spPr>
          <a:xfrm>
            <a:off x="841248" y="2907792"/>
            <a:ext cx="2331720" cy="310896"/>
          </a:xfrm>
          <a:prstGeom prst="rect">
            <a:avLst/>
          </a:prstGeom>
          <a:noFill/>
          <a:ln/>
        </p:spPr>
        <p:txBody>
          <a:bodyPr wrap="square" lIns="0" tIns="0" rIns="0" bIns="0" rtlCol="0" anchor="ctr">
            <a:normAutofit/>
          </a:bodyPr>
          <a:lstStyle/>
          <a:p>
            <a:pPr algn="ctr" indent="0" marL="0">
              <a:buNone/>
            </a:pPr>
            <a:r>
              <a:rPr lang="en-US" sz="1400" dirty="0">
                <a:solidFill>
                  <a:srgbClr val="173149"/>
                </a:solidFill>
                <a:latin typeface="Noto Sans CJK KR" pitchFamily="34" charset="0"/>
                <a:ea typeface="Noto Sans CJK KR" pitchFamily="34" charset="-122"/>
                <a:cs typeface="Noto Sans CJK KR" pitchFamily="34" charset="-120"/>
              </a:rPr>
              <a:t>전체 데이터 행</a:t>
            </a:r>
            <a:endParaRPr lang="en-US" sz="1400" dirty="0"/>
          </a:p>
        </p:txBody>
      </p:sp>
      <p:sp>
        <p:nvSpPr>
          <p:cNvPr id="11" name="Shape 9"/>
          <p:cNvSpPr/>
          <p:nvPr/>
        </p:nvSpPr>
        <p:spPr>
          <a:xfrm>
            <a:off x="3538728" y="1847088"/>
            <a:ext cx="2660904" cy="1673352"/>
          </a:xfrm>
          <a:prstGeom prst="roundRect">
            <a:avLst>
              <a:gd name="adj" fmla="val 8197"/>
            </a:avLst>
          </a:prstGeom>
          <a:solidFill>
            <a:srgbClr val="FFFFFF"/>
          </a:solidFill>
          <a:ln w="12700">
            <a:solidFill>
              <a:srgbClr val="D7E2E9"/>
            </a:solidFill>
            <a:prstDash val="solid"/>
          </a:ln>
        </p:spPr>
      </p:sp>
      <p:sp>
        <p:nvSpPr>
          <p:cNvPr id="12" name="Text 10"/>
          <p:cNvSpPr txBox="1"/>
          <p:nvPr/>
        </p:nvSpPr>
        <p:spPr>
          <a:xfrm>
            <a:off x="3703320" y="2112264"/>
            <a:ext cx="2331720" cy="621792"/>
          </a:xfrm>
          <a:prstGeom prst="rect">
            <a:avLst/>
          </a:prstGeom>
          <a:noFill/>
          <a:ln/>
        </p:spPr>
        <p:txBody>
          <a:bodyPr wrap="square" lIns="0" tIns="0" rIns="0" bIns="0" rtlCol="0" anchor="ctr">
            <a:normAutofit/>
          </a:bodyPr>
          <a:lstStyle/>
          <a:p>
            <a:pPr algn="ctr" indent="0" marL="0">
              <a:buNone/>
            </a:pPr>
            <a:r>
              <a:rPr lang="en-US" sz="3600" b="1" dirty="0">
                <a:solidFill>
                  <a:srgbClr val="195C81"/>
                </a:solidFill>
                <a:latin typeface="Noto Sans CJK KR" pitchFamily="34" charset="0"/>
                <a:ea typeface="Noto Sans CJK KR" pitchFamily="34" charset="-122"/>
                <a:cs typeface="Noto Sans CJK KR" pitchFamily="34" charset="-120"/>
              </a:rPr>
              <a:t>177</a:t>
            </a:r>
            <a:endParaRPr lang="en-US" sz="3600" dirty="0"/>
          </a:p>
        </p:txBody>
      </p:sp>
      <p:sp>
        <p:nvSpPr>
          <p:cNvPr id="13" name="Text 11"/>
          <p:cNvSpPr txBox="1"/>
          <p:nvPr/>
        </p:nvSpPr>
        <p:spPr>
          <a:xfrm>
            <a:off x="3703320" y="2907792"/>
            <a:ext cx="2331720" cy="310896"/>
          </a:xfrm>
          <a:prstGeom prst="rect">
            <a:avLst/>
          </a:prstGeom>
          <a:noFill/>
          <a:ln/>
        </p:spPr>
        <p:txBody>
          <a:bodyPr wrap="square" lIns="0" tIns="0" rIns="0" bIns="0" rtlCol="0" anchor="ctr">
            <a:normAutofit/>
          </a:bodyPr>
          <a:lstStyle/>
          <a:p>
            <a:pPr algn="ctr" indent="0" marL="0">
              <a:buNone/>
            </a:pPr>
            <a:r>
              <a:rPr lang="en-US" sz="1400" dirty="0">
                <a:solidFill>
                  <a:srgbClr val="173149"/>
                </a:solidFill>
                <a:latin typeface="Noto Sans CJK KR" pitchFamily="34" charset="0"/>
                <a:ea typeface="Noto Sans CJK KR" pitchFamily="34" charset="-122"/>
                <a:cs typeface="Noto Sans CJK KR" pitchFamily="34" charset="-120"/>
              </a:rPr>
              <a:t>선박 관련 후보</a:t>
            </a:r>
            <a:endParaRPr lang="en-US" sz="1400" dirty="0"/>
          </a:p>
        </p:txBody>
      </p:sp>
      <p:sp>
        <p:nvSpPr>
          <p:cNvPr id="14" name="Shape 12"/>
          <p:cNvSpPr/>
          <p:nvPr/>
        </p:nvSpPr>
        <p:spPr>
          <a:xfrm>
            <a:off x="6400800" y="1847088"/>
            <a:ext cx="2660904" cy="1673352"/>
          </a:xfrm>
          <a:prstGeom prst="roundRect">
            <a:avLst>
              <a:gd name="adj" fmla="val 8197"/>
            </a:avLst>
          </a:prstGeom>
          <a:solidFill>
            <a:srgbClr val="FFFFFF"/>
          </a:solidFill>
          <a:ln w="12700">
            <a:solidFill>
              <a:srgbClr val="D7E2E9"/>
            </a:solidFill>
            <a:prstDash val="solid"/>
          </a:ln>
        </p:spPr>
      </p:sp>
      <p:sp>
        <p:nvSpPr>
          <p:cNvPr id="15" name="Text 13"/>
          <p:cNvSpPr txBox="1"/>
          <p:nvPr/>
        </p:nvSpPr>
        <p:spPr>
          <a:xfrm>
            <a:off x="6565392" y="2112264"/>
            <a:ext cx="2331720" cy="621792"/>
          </a:xfrm>
          <a:prstGeom prst="rect">
            <a:avLst/>
          </a:prstGeom>
          <a:noFill/>
          <a:ln/>
        </p:spPr>
        <p:txBody>
          <a:bodyPr wrap="square" lIns="0" tIns="0" rIns="0" bIns="0" rtlCol="0" anchor="ctr">
            <a:normAutofit/>
          </a:bodyPr>
          <a:lstStyle/>
          <a:p>
            <a:pPr algn="ctr" indent="0" marL="0">
              <a:buNone/>
            </a:pPr>
            <a:r>
              <a:rPr lang="en-US" sz="3600" b="1" dirty="0">
                <a:solidFill>
                  <a:srgbClr val="195C81"/>
                </a:solidFill>
                <a:latin typeface="Noto Sans CJK KR" pitchFamily="34" charset="0"/>
                <a:ea typeface="Noto Sans CJK KR" pitchFamily="34" charset="-122"/>
                <a:cs typeface="Noto Sans CJK KR" pitchFamily="34" charset="-120"/>
              </a:rPr>
              <a:t>20</a:t>
            </a:r>
            <a:endParaRPr lang="en-US" sz="3600" dirty="0"/>
          </a:p>
        </p:txBody>
      </p:sp>
      <p:sp>
        <p:nvSpPr>
          <p:cNvPr id="16" name="Text 14"/>
          <p:cNvSpPr txBox="1"/>
          <p:nvPr/>
        </p:nvSpPr>
        <p:spPr>
          <a:xfrm>
            <a:off x="6565392" y="2907792"/>
            <a:ext cx="2331720" cy="310896"/>
          </a:xfrm>
          <a:prstGeom prst="rect">
            <a:avLst/>
          </a:prstGeom>
          <a:noFill/>
          <a:ln/>
        </p:spPr>
        <p:txBody>
          <a:bodyPr wrap="square" lIns="0" tIns="0" rIns="0" bIns="0" rtlCol="0" anchor="ctr">
            <a:normAutofit/>
          </a:bodyPr>
          <a:lstStyle/>
          <a:p>
            <a:pPr algn="ctr" indent="0" marL="0">
              <a:buNone/>
            </a:pPr>
            <a:r>
              <a:rPr lang="en-US" sz="1400" dirty="0">
                <a:solidFill>
                  <a:srgbClr val="173149"/>
                </a:solidFill>
                <a:latin typeface="Noto Sans CJK KR" pitchFamily="34" charset="0"/>
                <a:ea typeface="Noto Sans CJK KR" pitchFamily="34" charset="-122"/>
                <a:cs typeface="Noto Sans CJK KR" pitchFamily="34" charset="-120"/>
              </a:rPr>
              <a:t>핵심 선별 행</a:t>
            </a:r>
            <a:endParaRPr lang="en-US" sz="1400" dirty="0"/>
          </a:p>
        </p:txBody>
      </p:sp>
      <p:sp>
        <p:nvSpPr>
          <p:cNvPr id="17" name="Shape 15"/>
          <p:cNvSpPr/>
          <p:nvPr/>
        </p:nvSpPr>
        <p:spPr>
          <a:xfrm>
            <a:off x="9262872" y="1847088"/>
            <a:ext cx="2660904" cy="1673352"/>
          </a:xfrm>
          <a:prstGeom prst="roundRect">
            <a:avLst>
              <a:gd name="adj" fmla="val 8197"/>
            </a:avLst>
          </a:prstGeom>
          <a:solidFill>
            <a:srgbClr val="FFFFFF"/>
          </a:solidFill>
          <a:ln w="12700">
            <a:solidFill>
              <a:srgbClr val="D7E2E9"/>
            </a:solidFill>
            <a:prstDash val="solid"/>
          </a:ln>
        </p:spPr>
      </p:sp>
      <p:sp>
        <p:nvSpPr>
          <p:cNvPr id="18" name="Text 16"/>
          <p:cNvSpPr txBox="1"/>
          <p:nvPr/>
        </p:nvSpPr>
        <p:spPr>
          <a:xfrm>
            <a:off x="9427464" y="2112264"/>
            <a:ext cx="2331720" cy="621792"/>
          </a:xfrm>
          <a:prstGeom prst="rect">
            <a:avLst/>
          </a:prstGeom>
          <a:noFill/>
          <a:ln/>
        </p:spPr>
        <p:txBody>
          <a:bodyPr wrap="square" lIns="0" tIns="0" rIns="0" bIns="0" rtlCol="0" anchor="ctr">
            <a:normAutofit/>
          </a:bodyPr>
          <a:lstStyle/>
          <a:p>
            <a:pPr algn="ctr" indent="0" marL="0">
              <a:buNone/>
            </a:pPr>
            <a:r>
              <a:rPr lang="en-US" sz="3600" b="1" dirty="0">
                <a:solidFill>
                  <a:srgbClr val="B76A19"/>
                </a:solidFill>
                <a:latin typeface="Noto Sans CJK KR" pitchFamily="34" charset="0"/>
                <a:ea typeface="Noto Sans CJK KR" pitchFamily="34" charset="-122"/>
                <a:cs typeface="Noto Sans CJK KR" pitchFamily="34" charset="-120"/>
              </a:rPr>
              <a:t>19</a:t>
            </a:r>
            <a:endParaRPr lang="en-US" sz="3600" dirty="0"/>
          </a:p>
        </p:txBody>
      </p:sp>
      <p:sp>
        <p:nvSpPr>
          <p:cNvPr id="19" name="Text 17"/>
          <p:cNvSpPr txBox="1"/>
          <p:nvPr/>
        </p:nvSpPr>
        <p:spPr>
          <a:xfrm>
            <a:off x="9427464" y="2907792"/>
            <a:ext cx="2331720" cy="310896"/>
          </a:xfrm>
          <a:prstGeom prst="rect">
            <a:avLst/>
          </a:prstGeom>
          <a:noFill/>
          <a:ln/>
        </p:spPr>
        <p:txBody>
          <a:bodyPr wrap="square" lIns="0" tIns="0" rIns="0" bIns="0" rtlCol="0" anchor="ctr">
            <a:normAutofit/>
          </a:bodyPr>
          <a:lstStyle/>
          <a:p>
            <a:pPr algn="ctr" indent="0" marL="0">
              <a:buNone/>
            </a:pPr>
            <a:r>
              <a:rPr lang="en-US" sz="1400" dirty="0">
                <a:solidFill>
                  <a:srgbClr val="173149"/>
                </a:solidFill>
                <a:latin typeface="Noto Sans CJK KR" pitchFamily="34" charset="0"/>
                <a:ea typeface="Noto Sans CJK KR" pitchFamily="34" charset="-122"/>
                <a:cs typeface="Noto Sans CJK KR" pitchFamily="34" charset="-120"/>
              </a:rPr>
              <a:t>잠정 사건 수</a:t>
            </a:r>
            <a:endParaRPr lang="en-US" sz="1400" dirty="0"/>
          </a:p>
        </p:txBody>
      </p:sp>
      <p:sp>
        <p:nvSpPr>
          <p:cNvPr id="20" name="Shape 18"/>
          <p:cNvSpPr/>
          <p:nvPr/>
        </p:nvSpPr>
        <p:spPr>
          <a:xfrm>
            <a:off x="694944" y="3886200"/>
            <a:ext cx="10799064" cy="1243584"/>
          </a:xfrm>
          <a:prstGeom prst="roundRect">
            <a:avLst>
              <a:gd name="adj" fmla="val 11029"/>
            </a:avLst>
          </a:prstGeom>
          <a:solidFill>
            <a:srgbClr val="E6F2F5"/>
          </a:solidFill>
          <a:ln w="12700">
            <a:solidFill>
              <a:srgbClr val="E6F2F5">
                <a:alpha val="0"/>
              </a:srgbClr>
            </a:solidFill>
            <a:prstDash val="solid"/>
          </a:ln>
        </p:spPr>
      </p:sp>
      <p:sp>
        <p:nvSpPr>
          <p:cNvPr id="21" name="Text 19"/>
          <p:cNvSpPr txBox="1"/>
          <p:nvPr/>
        </p:nvSpPr>
        <p:spPr>
          <a:xfrm>
            <a:off x="1024128" y="4160520"/>
            <a:ext cx="2743200" cy="420624"/>
          </a:xfrm>
          <a:prstGeom prst="rect">
            <a:avLst/>
          </a:prstGeom>
          <a:noFill/>
          <a:ln/>
        </p:spPr>
        <p:txBody>
          <a:bodyPr wrap="square" lIns="0" tIns="0" rIns="0" bIns="0" rtlCol="0" anchor="ctr">
            <a:normAutofit/>
          </a:bodyPr>
          <a:lstStyle/>
          <a:p>
            <a:pPr algn="l" indent="0" marL="0">
              <a:buNone/>
            </a:pPr>
            <a:r>
              <a:rPr lang="en-US" sz="2000" b="1" dirty="0">
                <a:solidFill>
                  <a:srgbClr val="112A3F"/>
                </a:solidFill>
                <a:latin typeface="Noto Sans CJK KR" pitchFamily="34" charset="0"/>
                <a:ea typeface="Noto Sans CJK KR" pitchFamily="34" charset="-122"/>
                <a:cs typeface="Noto Sans CJK KR" pitchFamily="34" charset="-120"/>
              </a:rPr>
              <a:t>참고 14행</a:t>
            </a:r>
            <a:endParaRPr lang="en-US" sz="2000" dirty="0"/>
          </a:p>
        </p:txBody>
      </p:sp>
      <p:sp>
        <p:nvSpPr>
          <p:cNvPr id="22" name="Text 20"/>
          <p:cNvSpPr txBox="1"/>
          <p:nvPr/>
        </p:nvSpPr>
        <p:spPr>
          <a:xfrm>
            <a:off x="4215384" y="4160520"/>
            <a:ext cx="2743200" cy="420624"/>
          </a:xfrm>
          <a:prstGeom prst="rect">
            <a:avLst/>
          </a:prstGeom>
          <a:noFill/>
          <a:ln/>
        </p:spPr>
        <p:txBody>
          <a:bodyPr wrap="square" lIns="0" tIns="0" rIns="0" bIns="0" rtlCol="0" anchor="ctr">
            <a:normAutofit/>
          </a:bodyPr>
          <a:lstStyle/>
          <a:p>
            <a:pPr algn="l" indent="0" marL="0">
              <a:buNone/>
            </a:pPr>
            <a:r>
              <a:rPr lang="en-US" sz="2000" b="1" dirty="0">
                <a:solidFill>
                  <a:srgbClr val="112A3F"/>
                </a:solidFill>
                <a:latin typeface="Noto Sans CJK KR" pitchFamily="34" charset="0"/>
                <a:ea typeface="Noto Sans CJK KR" pitchFamily="34" charset="-122"/>
                <a:cs typeface="Noto Sans CJK KR" pitchFamily="34" charset="-120"/>
              </a:rPr>
              <a:t>별도 AIS 6행</a:t>
            </a:r>
            <a:endParaRPr lang="en-US" sz="2000" dirty="0"/>
          </a:p>
        </p:txBody>
      </p:sp>
      <p:sp>
        <p:nvSpPr>
          <p:cNvPr id="23" name="Text 21"/>
          <p:cNvSpPr txBox="1"/>
          <p:nvPr/>
        </p:nvSpPr>
        <p:spPr>
          <a:xfrm>
            <a:off x="6976872" y="4069080"/>
            <a:ext cx="4050792" cy="594360"/>
          </a:xfrm>
          <a:prstGeom prst="rect">
            <a:avLst/>
          </a:prstGeom>
          <a:noFill/>
          <a:ln/>
        </p:spPr>
        <p:txBody>
          <a:bodyPr wrap="square" lIns="0" tIns="0" rIns="0" bIns="0" rtlCol="0" anchor="ctr">
            <a:normAutofit/>
          </a:bodyPr>
          <a:lstStyle/>
          <a:p>
            <a:pPr algn="l" indent="0" marL="0">
              <a:buNone/>
            </a:pPr>
            <a:r>
              <a:rPr lang="en-US" sz="1340" dirty="0">
                <a:solidFill>
                  <a:srgbClr val="173149"/>
                </a:solidFill>
                <a:latin typeface="Noto Sans CJK KR" pitchFamily="34" charset="0"/>
                <a:ea typeface="Noto Sans CJK KR" pitchFamily="34" charset="-122"/>
                <a:cs typeface="Noto Sans CJK KR" pitchFamily="34" charset="-120"/>
              </a:rPr>
              <a:t>선박 직접 피해·전파교란·육상 경유 등은 별도 범주</a:t>
            </a:r>
            <a:endParaRPr lang="en-US" sz="1340" dirty="0"/>
          </a:p>
        </p:txBody>
      </p:sp>
      <p:sp>
        <p:nvSpPr>
          <p:cNvPr id="24" name="Text 22"/>
          <p:cNvSpPr txBox="1"/>
          <p:nvPr/>
        </p:nvSpPr>
        <p:spPr>
          <a:xfrm>
            <a:off x="704088" y="5422392"/>
            <a:ext cx="10424160" cy="457200"/>
          </a:xfrm>
          <a:prstGeom prst="rect">
            <a:avLst/>
          </a:prstGeom>
          <a:noFill/>
          <a:ln/>
        </p:spPr>
        <p:txBody>
          <a:bodyPr wrap="square" lIns="0" tIns="0" rIns="0" bIns="0" rtlCol="0" anchor="ctr">
            <a:normAutofit/>
          </a:bodyPr>
          <a:lstStyle/>
          <a:p>
            <a:pPr algn="l" indent="0" marL="0">
              <a:buNone/>
            </a:pPr>
            <a:r>
              <a:rPr lang="en-US" sz="1520" b="1" dirty="0">
                <a:solidFill>
                  <a:srgbClr val="B34843"/>
                </a:solidFill>
                <a:latin typeface="Noto Sans CJK KR" pitchFamily="34" charset="0"/>
                <a:ea typeface="Noto Sans CJK KR" pitchFamily="34" charset="-122"/>
                <a:cs typeface="Noto Sans CJK KR" pitchFamily="34" charset="-120"/>
              </a:rPr>
              <a:t>주의 | 제외 857행(720 / 125 / 12)의 누락 검토 전. 19사건은 잠정 중복 계산값입니다.</a:t>
            </a:r>
            <a:endParaRPr lang="en-US" sz="15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SELECTION BIAS</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핵심 20행의 대부분은 선내 침입 사례가 아닙니다</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출처: GitHub v2/demo_data_v2.json 자동 집계 / 핵심 선별 기록의 구성, 일반 선박 위험 비율 아님</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05</a:t>
            </a:r>
            <a:endParaRPr lang="en-US" sz="1000" dirty="0"/>
          </a:p>
        </p:txBody>
      </p:sp>
      <p:sp>
        <p:nvSpPr>
          <p:cNvPr id="8" name="Shape 6"/>
          <p:cNvSpPr/>
          <p:nvPr/>
        </p:nvSpPr>
        <p:spPr>
          <a:xfrm>
            <a:off x="749808" y="1691640"/>
            <a:ext cx="10561320" cy="804672"/>
          </a:xfrm>
          <a:prstGeom prst="roundRect">
            <a:avLst>
              <a:gd name="adj" fmla="val 17045"/>
            </a:avLst>
          </a:prstGeom>
          <a:solidFill>
            <a:srgbClr val="FFFFFF"/>
          </a:solidFill>
          <a:ln w="12700">
            <a:solidFill>
              <a:srgbClr val="D7E2E9"/>
            </a:solidFill>
            <a:prstDash val="solid"/>
          </a:ln>
        </p:spPr>
      </p:sp>
      <p:sp>
        <p:nvSpPr>
          <p:cNvPr id="9" name="Shape 7"/>
          <p:cNvSpPr/>
          <p:nvPr/>
        </p:nvSpPr>
        <p:spPr>
          <a:xfrm>
            <a:off x="932688" y="1810512"/>
            <a:ext cx="1042416" cy="557784"/>
          </a:xfrm>
          <a:prstGeom prst="roundRect">
            <a:avLst>
              <a:gd name="adj" fmla="val 24590"/>
            </a:avLst>
          </a:prstGeom>
          <a:solidFill>
            <a:srgbClr val="195C81"/>
          </a:solidFill>
          <a:ln w="12700">
            <a:solidFill>
              <a:srgbClr val="195C81">
                <a:alpha val="0"/>
              </a:srgbClr>
            </a:solidFill>
            <a:prstDash val="solid"/>
          </a:ln>
        </p:spPr>
      </p:sp>
      <p:sp>
        <p:nvSpPr>
          <p:cNvPr id="10" name="Text 8"/>
          <p:cNvSpPr txBox="1"/>
          <p:nvPr/>
        </p:nvSpPr>
        <p:spPr>
          <a:xfrm>
            <a:off x="1060704" y="1883664"/>
            <a:ext cx="786384" cy="393192"/>
          </a:xfrm>
          <a:prstGeom prst="rect">
            <a:avLst/>
          </a:prstGeom>
          <a:noFill/>
          <a:ln/>
        </p:spPr>
        <p:txBody>
          <a:bodyPr wrap="square" lIns="0" tIns="0" rIns="0" bIns="0" rtlCol="0" anchor="ctr">
            <a:normAutofit/>
          </a:bodyPr>
          <a:lstStyle/>
          <a:p>
            <a:pPr algn="ctr" indent="0" marL="0">
              <a:buNone/>
            </a:pPr>
            <a:r>
              <a:rPr lang="en-US" sz="2500" b="1" dirty="0">
                <a:solidFill>
                  <a:srgbClr val="FFFFFF"/>
                </a:solidFill>
                <a:latin typeface="Noto Sans CJK KR" pitchFamily="34" charset="0"/>
                <a:ea typeface="Noto Sans CJK KR" pitchFamily="34" charset="-122"/>
                <a:cs typeface="Noto Sans CJK KR" pitchFamily="34" charset="-120"/>
              </a:rPr>
              <a:t>12</a:t>
            </a:r>
            <a:endParaRPr lang="en-US" sz="2500" dirty="0"/>
          </a:p>
        </p:txBody>
      </p:sp>
      <p:sp>
        <p:nvSpPr>
          <p:cNvPr id="11" name="Text 9"/>
          <p:cNvSpPr txBox="1"/>
          <p:nvPr/>
        </p:nvSpPr>
        <p:spPr>
          <a:xfrm>
            <a:off x="2295144" y="1837944"/>
            <a:ext cx="8110728" cy="466344"/>
          </a:xfrm>
          <a:prstGeom prst="rect">
            <a:avLst/>
          </a:prstGeom>
          <a:noFill/>
          <a:ln/>
        </p:spPr>
        <p:txBody>
          <a:bodyPr wrap="square" lIns="0" tIns="0" rIns="0" bIns="0" rtlCol="0" anchor="ctr">
            <a:normAutofit/>
          </a:bodyPr>
          <a:lstStyle/>
          <a:p>
            <a:pPr algn="l" indent="0" marL="0">
              <a:buNone/>
            </a:pPr>
            <a:r>
              <a:rPr lang="en-US" sz="1820" b="1" dirty="0">
                <a:solidFill>
                  <a:srgbClr val="112A3F"/>
                </a:solidFill>
                <a:latin typeface="Noto Sans CJK KR" pitchFamily="34" charset="0"/>
                <a:ea typeface="Noto Sans CJK KR" pitchFamily="34" charset="-122"/>
                <a:cs typeface="Noto Sans CJK KR" pitchFamily="34" charset="-120"/>
              </a:rPr>
              <a:t>RF · 외부 GNSS 전파교란</a:t>
            </a:r>
            <a:endParaRPr lang="en-US" sz="1820" dirty="0"/>
          </a:p>
        </p:txBody>
      </p:sp>
      <p:sp>
        <p:nvSpPr>
          <p:cNvPr id="12" name="Shape 10"/>
          <p:cNvSpPr/>
          <p:nvPr/>
        </p:nvSpPr>
        <p:spPr>
          <a:xfrm>
            <a:off x="749808" y="2651760"/>
            <a:ext cx="10561320" cy="804672"/>
          </a:xfrm>
          <a:prstGeom prst="roundRect">
            <a:avLst>
              <a:gd name="adj" fmla="val 17045"/>
            </a:avLst>
          </a:prstGeom>
          <a:solidFill>
            <a:srgbClr val="FFFFFF"/>
          </a:solidFill>
          <a:ln w="12700">
            <a:solidFill>
              <a:srgbClr val="D7E2E9"/>
            </a:solidFill>
            <a:prstDash val="solid"/>
          </a:ln>
        </p:spPr>
      </p:sp>
      <p:sp>
        <p:nvSpPr>
          <p:cNvPr id="13" name="Shape 11"/>
          <p:cNvSpPr/>
          <p:nvPr/>
        </p:nvSpPr>
        <p:spPr>
          <a:xfrm>
            <a:off x="932688" y="2770632"/>
            <a:ext cx="1042416" cy="557784"/>
          </a:xfrm>
          <a:prstGeom prst="roundRect">
            <a:avLst>
              <a:gd name="adj" fmla="val 24590"/>
            </a:avLst>
          </a:prstGeom>
          <a:solidFill>
            <a:srgbClr val="0C8A91"/>
          </a:solidFill>
          <a:ln w="12700">
            <a:solidFill>
              <a:srgbClr val="0C8A91">
                <a:alpha val="0"/>
              </a:srgbClr>
            </a:solidFill>
            <a:prstDash val="solid"/>
          </a:ln>
        </p:spPr>
      </p:sp>
      <p:sp>
        <p:nvSpPr>
          <p:cNvPr id="14" name="Text 12"/>
          <p:cNvSpPr txBox="1"/>
          <p:nvPr/>
        </p:nvSpPr>
        <p:spPr>
          <a:xfrm>
            <a:off x="1060704" y="2843784"/>
            <a:ext cx="786384" cy="393192"/>
          </a:xfrm>
          <a:prstGeom prst="rect">
            <a:avLst/>
          </a:prstGeom>
          <a:noFill/>
          <a:ln/>
        </p:spPr>
        <p:txBody>
          <a:bodyPr wrap="square" lIns="0" tIns="0" rIns="0" bIns="0" rtlCol="0" anchor="ctr">
            <a:normAutofit/>
          </a:bodyPr>
          <a:lstStyle/>
          <a:p>
            <a:pPr algn="ctr" indent="0" marL="0">
              <a:buNone/>
            </a:pPr>
            <a:r>
              <a:rPr lang="en-US" sz="2500" b="1" dirty="0">
                <a:solidFill>
                  <a:srgbClr val="FFFFFF"/>
                </a:solidFill>
                <a:latin typeface="Noto Sans CJK KR" pitchFamily="34" charset="0"/>
                <a:ea typeface="Noto Sans CJK KR" pitchFamily="34" charset="-122"/>
                <a:cs typeface="Noto Sans CJK KR" pitchFamily="34" charset="-120"/>
              </a:rPr>
              <a:t>7</a:t>
            </a:r>
            <a:endParaRPr lang="en-US" sz="2500" dirty="0"/>
          </a:p>
        </p:txBody>
      </p:sp>
      <p:sp>
        <p:nvSpPr>
          <p:cNvPr id="15" name="Text 13"/>
          <p:cNvSpPr txBox="1"/>
          <p:nvPr/>
        </p:nvSpPr>
        <p:spPr>
          <a:xfrm>
            <a:off x="2295144" y="2798064"/>
            <a:ext cx="8110728" cy="466344"/>
          </a:xfrm>
          <a:prstGeom prst="rect">
            <a:avLst/>
          </a:prstGeom>
          <a:noFill/>
          <a:ln/>
        </p:spPr>
        <p:txBody>
          <a:bodyPr wrap="square" lIns="0" tIns="0" rIns="0" bIns="0" rtlCol="0" anchor="ctr">
            <a:normAutofit/>
          </a:bodyPr>
          <a:lstStyle/>
          <a:p>
            <a:pPr algn="l" indent="0" marL="0">
              <a:buNone/>
            </a:pPr>
            <a:r>
              <a:rPr lang="en-US" sz="1820" b="1" dirty="0">
                <a:solidFill>
                  <a:srgbClr val="112A3F"/>
                </a:solidFill>
                <a:latin typeface="Noto Sans CJK KR" pitchFamily="34" charset="0"/>
                <a:ea typeface="Noto Sans CJK KR" pitchFamily="34" charset="-122"/>
                <a:cs typeface="Noto Sans CJK KR" pitchFamily="34" charset="-120"/>
              </a:rPr>
              <a:t>AIS · 위치·정보 무결성</a:t>
            </a:r>
            <a:endParaRPr lang="en-US" sz="1820" dirty="0"/>
          </a:p>
        </p:txBody>
      </p:sp>
      <p:sp>
        <p:nvSpPr>
          <p:cNvPr id="16" name="Shape 14"/>
          <p:cNvSpPr/>
          <p:nvPr/>
        </p:nvSpPr>
        <p:spPr>
          <a:xfrm>
            <a:off x="749808" y="3611880"/>
            <a:ext cx="10561320" cy="804672"/>
          </a:xfrm>
          <a:prstGeom prst="roundRect">
            <a:avLst>
              <a:gd name="adj" fmla="val 17045"/>
            </a:avLst>
          </a:prstGeom>
          <a:solidFill>
            <a:srgbClr val="FFFFFF"/>
          </a:solidFill>
          <a:ln w="12700">
            <a:solidFill>
              <a:srgbClr val="D7E2E9"/>
            </a:solidFill>
            <a:prstDash val="solid"/>
          </a:ln>
        </p:spPr>
      </p:sp>
      <p:sp>
        <p:nvSpPr>
          <p:cNvPr id="17" name="Shape 15"/>
          <p:cNvSpPr/>
          <p:nvPr/>
        </p:nvSpPr>
        <p:spPr>
          <a:xfrm>
            <a:off x="932688" y="3730752"/>
            <a:ext cx="1042416" cy="557784"/>
          </a:xfrm>
          <a:prstGeom prst="roundRect">
            <a:avLst>
              <a:gd name="adj" fmla="val 24590"/>
            </a:avLst>
          </a:prstGeom>
          <a:solidFill>
            <a:srgbClr val="B76A19"/>
          </a:solidFill>
          <a:ln w="12700">
            <a:solidFill>
              <a:srgbClr val="B76A19">
                <a:alpha val="0"/>
              </a:srgbClr>
            </a:solidFill>
            <a:prstDash val="solid"/>
          </a:ln>
        </p:spPr>
      </p:sp>
      <p:sp>
        <p:nvSpPr>
          <p:cNvPr id="18" name="Text 16"/>
          <p:cNvSpPr txBox="1"/>
          <p:nvPr/>
        </p:nvSpPr>
        <p:spPr>
          <a:xfrm>
            <a:off x="1060704" y="3803904"/>
            <a:ext cx="786384" cy="393192"/>
          </a:xfrm>
          <a:prstGeom prst="rect">
            <a:avLst/>
          </a:prstGeom>
          <a:noFill/>
          <a:ln/>
        </p:spPr>
        <p:txBody>
          <a:bodyPr wrap="square" lIns="0" tIns="0" rIns="0" bIns="0" rtlCol="0" anchor="ctr">
            <a:normAutofit/>
          </a:bodyPr>
          <a:lstStyle/>
          <a:p>
            <a:pPr algn="ctr" indent="0" marL="0">
              <a:buNone/>
            </a:pPr>
            <a:r>
              <a:rPr lang="en-US" sz="2500" b="1" dirty="0">
                <a:solidFill>
                  <a:srgbClr val="FFFFFF"/>
                </a:solidFill>
                <a:latin typeface="Noto Sans CJK KR" pitchFamily="34" charset="0"/>
                <a:ea typeface="Noto Sans CJK KR" pitchFamily="34" charset="-122"/>
                <a:cs typeface="Noto Sans CJK KR" pitchFamily="34" charset="-120"/>
              </a:rPr>
              <a:t>1</a:t>
            </a:r>
            <a:endParaRPr lang="en-US" sz="2500" dirty="0"/>
          </a:p>
        </p:txBody>
      </p:sp>
      <p:sp>
        <p:nvSpPr>
          <p:cNvPr id="19" name="Text 17"/>
          <p:cNvSpPr txBox="1"/>
          <p:nvPr/>
        </p:nvSpPr>
        <p:spPr>
          <a:xfrm>
            <a:off x="2295144" y="3758184"/>
            <a:ext cx="8110728" cy="466344"/>
          </a:xfrm>
          <a:prstGeom prst="rect">
            <a:avLst/>
          </a:prstGeom>
          <a:noFill/>
          <a:ln/>
        </p:spPr>
        <p:txBody>
          <a:bodyPr wrap="square" lIns="0" tIns="0" rIns="0" bIns="0" rtlCol="0" anchor="ctr">
            <a:normAutofit/>
          </a:bodyPr>
          <a:lstStyle/>
          <a:p>
            <a:pPr algn="l" indent="0" marL="0">
              <a:buNone/>
            </a:pPr>
            <a:r>
              <a:rPr lang="en-US" sz="1820" b="1" dirty="0">
                <a:solidFill>
                  <a:srgbClr val="112A3F"/>
                </a:solidFill>
                <a:latin typeface="Noto Sans CJK KR" pitchFamily="34" charset="0"/>
                <a:ea typeface="Noto Sans CJK KR" pitchFamily="34" charset="-122"/>
                <a:cs typeface="Noto Sans CJK KR" pitchFamily="34" charset="-120"/>
              </a:rPr>
              <a:t>OB_IT · 선내 업무망 악성코드</a:t>
            </a:r>
            <a:endParaRPr lang="en-US" sz="1820" dirty="0"/>
          </a:p>
        </p:txBody>
      </p:sp>
      <p:sp>
        <p:nvSpPr>
          <p:cNvPr id="20" name="Shape 18"/>
          <p:cNvSpPr/>
          <p:nvPr/>
        </p:nvSpPr>
        <p:spPr>
          <a:xfrm>
            <a:off x="749808" y="4572000"/>
            <a:ext cx="10561320" cy="804672"/>
          </a:xfrm>
          <a:prstGeom prst="roundRect">
            <a:avLst>
              <a:gd name="adj" fmla="val 17045"/>
            </a:avLst>
          </a:prstGeom>
          <a:solidFill>
            <a:srgbClr val="FFFFFF"/>
          </a:solidFill>
          <a:ln w="12700">
            <a:solidFill>
              <a:srgbClr val="D7E2E9"/>
            </a:solidFill>
            <a:prstDash val="solid"/>
          </a:ln>
        </p:spPr>
      </p:sp>
      <p:sp>
        <p:nvSpPr>
          <p:cNvPr id="21" name="Shape 19"/>
          <p:cNvSpPr/>
          <p:nvPr/>
        </p:nvSpPr>
        <p:spPr>
          <a:xfrm>
            <a:off x="932688" y="4690872"/>
            <a:ext cx="1042416" cy="557784"/>
          </a:xfrm>
          <a:prstGeom prst="roundRect">
            <a:avLst>
              <a:gd name="adj" fmla="val 24590"/>
            </a:avLst>
          </a:prstGeom>
          <a:solidFill>
            <a:srgbClr val="B34843"/>
          </a:solidFill>
          <a:ln w="12700">
            <a:solidFill>
              <a:srgbClr val="B34843">
                <a:alpha val="0"/>
              </a:srgbClr>
            </a:solidFill>
            <a:prstDash val="solid"/>
          </a:ln>
        </p:spPr>
      </p:sp>
      <p:sp>
        <p:nvSpPr>
          <p:cNvPr id="22" name="Text 20"/>
          <p:cNvSpPr txBox="1"/>
          <p:nvPr/>
        </p:nvSpPr>
        <p:spPr>
          <a:xfrm>
            <a:off x="1060704" y="4764024"/>
            <a:ext cx="786384" cy="393192"/>
          </a:xfrm>
          <a:prstGeom prst="rect">
            <a:avLst/>
          </a:prstGeom>
          <a:noFill/>
          <a:ln/>
        </p:spPr>
        <p:txBody>
          <a:bodyPr wrap="square" lIns="0" tIns="0" rIns="0" bIns="0" rtlCol="0" anchor="ctr">
            <a:normAutofit/>
          </a:bodyPr>
          <a:lstStyle/>
          <a:p>
            <a:pPr algn="ctr" indent="0" marL="0">
              <a:buNone/>
            </a:pPr>
            <a:r>
              <a:rPr lang="en-US" sz="2500" b="1" dirty="0">
                <a:solidFill>
                  <a:srgbClr val="FFFFFF"/>
                </a:solidFill>
                <a:latin typeface="Noto Sans CJK KR" pitchFamily="34" charset="0"/>
                <a:ea typeface="Noto Sans CJK KR" pitchFamily="34" charset="-122"/>
                <a:cs typeface="Noto Sans CJK KR" pitchFamily="34" charset="-120"/>
              </a:rPr>
              <a:t>0</a:t>
            </a:r>
            <a:endParaRPr lang="en-US" sz="2500" dirty="0"/>
          </a:p>
        </p:txBody>
      </p:sp>
      <p:sp>
        <p:nvSpPr>
          <p:cNvPr id="23" name="Text 21"/>
          <p:cNvSpPr txBox="1"/>
          <p:nvPr/>
        </p:nvSpPr>
        <p:spPr>
          <a:xfrm>
            <a:off x="2295144" y="4718304"/>
            <a:ext cx="8110728" cy="466344"/>
          </a:xfrm>
          <a:prstGeom prst="rect">
            <a:avLst/>
          </a:prstGeom>
          <a:noFill/>
          <a:ln/>
        </p:spPr>
        <p:txBody>
          <a:bodyPr wrap="square" lIns="0" tIns="0" rIns="0" bIns="0" rtlCol="0" anchor="ctr">
            <a:normAutofit/>
          </a:bodyPr>
          <a:lstStyle/>
          <a:p>
            <a:pPr algn="l" indent="0" marL="0">
              <a:buNone/>
            </a:pPr>
            <a:r>
              <a:rPr lang="en-US" sz="1820" b="1" dirty="0">
                <a:solidFill>
                  <a:srgbClr val="112A3F"/>
                </a:solidFill>
                <a:latin typeface="Noto Sans CJK KR" pitchFamily="34" charset="0"/>
                <a:ea typeface="Noto Sans CJK KR" pitchFamily="34" charset="-122"/>
                <a:cs typeface="Noto Sans CJK KR" pitchFamily="34" charset="-120"/>
              </a:rPr>
              <a:t>OB_OT · 확인된 선내 OT 침입</a:t>
            </a:r>
            <a:endParaRPr lang="en-US" sz="1820" dirty="0"/>
          </a:p>
        </p:txBody>
      </p:sp>
      <p:sp>
        <p:nvSpPr>
          <p:cNvPr id="24" name="Shape 22"/>
          <p:cNvSpPr/>
          <p:nvPr/>
        </p:nvSpPr>
        <p:spPr>
          <a:xfrm>
            <a:off x="768096" y="5632704"/>
            <a:ext cx="10515600" cy="566928"/>
          </a:xfrm>
          <a:prstGeom prst="roundRect">
            <a:avLst>
              <a:gd name="adj" fmla="val 24194"/>
            </a:avLst>
          </a:prstGeom>
          <a:solidFill>
            <a:srgbClr val="FFF3E5"/>
          </a:solidFill>
          <a:ln w="12700">
            <a:solidFill>
              <a:srgbClr val="FFF3E5">
                <a:alpha val="0"/>
              </a:srgbClr>
            </a:solidFill>
            <a:prstDash val="solid"/>
          </a:ln>
        </p:spPr>
      </p:sp>
      <p:sp>
        <p:nvSpPr>
          <p:cNvPr id="25" name="Text 23"/>
          <p:cNvSpPr txBox="1"/>
          <p:nvPr/>
        </p:nvSpPr>
        <p:spPr>
          <a:xfrm>
            <a:off x="914400" y="5705856"/>
            <a:ext cx="10186416" cy="393192"/>
          </a:xfrm>
          <a:prstGeom prst="rect">
            <a:avLst/>
          </a:prstGeom>
          <a:noFill/>
          <a:ln/>
        </p:spPr>
        <p:txBody>
          <a:bodyPr wrap="square" lIns="0" tIns="0" rIns="0" bIns="0" rtlCol="0" anchor="ctr">
            <a:normAutofit/>
          </a:bodyPr>
          <a:lstStyle/>
          <a:p>
            <a:pPr algn="l" indent="0" marL="0">
              <a:buNone/>
            </a:pPr>
            <a:r>
              <a:rPr lang="en-US" sz="1370" b="1" dirty="0">
                <a:solidFill>
                  <a:srgbClr val="B76A19"/>
                </a:solidFill>
                <a:latin typeface="Noto Sans CJK KR" pitchFamily="34" charset="0"/>
                <a:ea typeface="Noto Sans CJK KR" pitchFamily="34" charset="-122"/>
                <a:cs typeface="Noto Sans CJK KR" pitchFamily="34" charset="-120"/>
              </a:rPr>
              <a:t>핵심 20행은 AI가 선별한 표본입니다. 전체 선박 사이버위협의 발생률·구성비로 해석하지 않습니다.</a:t>
            </a:r>
            <a:endParaRPr lang="en-US" sz="13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EVIDENCE MODEL</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근거 표시 원칙: 사실과 가정은 다릅니다</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F/R/H/U는 이 연구의 시나리오 표현 기준입니다. 사건 원문에 없는 공격 단계는 확정하지 않습니다.</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06</a:t>
            </a:r>
            <a:endParaRPr lang="en-US" sz="1000" dirty="0"/>
          </a:p>
        </p:txBody>
      </p:sp>
      <p:sp>
        <p:nvSpPr>
          <p:cNvPr id="8" name="Shape 6"/>
          <p:cNvSpPr/>
          <p:nvPr/>
        </p:nvSpPr>
        <p:spPr>
          <a:xfrm>
            <a:off x="813816" y="1828800"/>
            <a:ext cx="10561320" cy="758952"/>
          </a:xfrm>
          <a:prstGeom prst="roundRect">
            <a:avLst>
              <a:gd name="adj" fmla="val 18072"/>
            </a:avLst>
          </a:prstGeom>
          <a:solidFill>
            <a:srgbClr val="FFFFFF"/>
          </a:solidFill>
          <a:ln w="12700">
            <a:solidFill>
              <a:srgbClr val="D7E2E9"/>
            </a:solidFill>
            <a:prstDash val="solid"/>
          </a:ln>
        </p:spPr>
      </p:sp>
      <p:sp>
        <p:nvSpPr>
          <p:cNvPr id="9" name="Shape 7"/>
          <p:cNvSpPr/>
          <p:nvPr/>
        </p:nvSpPr>
        <p:spPr>
          <a:xfrm>
            <a:off x="987552" y="1965960"/>
            <a:ext cx="484632" cy="484632"/>
          </a:xfrm>
          <a:prstGeom prst="roundRect">
            <a:avLst>
              <a:gd name="adj" fmla="val 28302"/>
            </a:avLst>
          </a:prstGeom>
          <a:solidFill>
            <a:srgbClr val="287C6B"/>
          </a:solidFill>
          <a:ln w="12700">
            <a:solidFill>
              <a:srgbClr val="287C6B">
                <a:alpha val="0"/>
              </a:srgbClr>
            </a:solidFill>
            <a:prstDash val="solid"/>
          </a:ln>
        </p:spPr>
      </p:sp>
      <p:sp>
        <p:nvSpPr>
          <p:cNvPr id="10" name="Text 8"/>
          <p:cNvSpPr txBox="1"/>
          <p:nvPr/>
        </p:nvSpPr>
        <p:spPr>
          <a:xfrm>
            <a:off x="1060704" y="2011680"/>
            <a:ext cx="310896" cy="33832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Noto Sans CJK KR" pitchFamily="34" charset="0"/>
                <a:ea typeface="Noto Sans CJK KR" pitchFamily="34" charset="-122"/>
                <a:cs typeface="Noto Sans CJK KR" pitchFamily="34" charset="-120"/>
              </a:rPr>
              <a:t>F</a:t>
            </a:r>
            <a:endParaRPr lang="en-US" sz="1700" dirty="0"/>
          </a:p>
        </p:txBody>
      </p:sp>
      <p:sp>
        <p:nvSpPr>
          <p:cNvPr id="11" name="Text 9"/>
          <p:cNvSpPr txBox="1"/>
          <p:nvPr/>
        </p:nvSpPr>
        <p:spPr>
          <a:xfrm>
            <a:off x="1691640" y="1938528"/>
            <a:ext cx="2880360" cy="484632"/>
          </a:xfrm>
          <a:prstGeom prst="rect">
            <a:avLst/>
          </a:prstGeom>
          <a:noFill/>
          <a:ln/>
        </p:spPr>
        <p:txBody>
          <a:bodyPr wrap="square" lIns="0" tIns="0" rIns="0" bIns="0" rtlCol="0" anchor="ctr">
            <a:normAutofit/>
          </a:bodyPr>
          <a:lstStyle/>
          <a:p>
            <a:pPr algn="l" indent="0" marL="0">
              <a:buNone/>
            </a:pPr>
            <a:r>
              <a:rPr lang="en-US" sz="1800" b="1" dirty="0">
                <a:solidFill>
                  <a:srgbClr val="173149"/>
                </a:solidFill>
                <a:latin typeface="Noto Sans CJK KR" pitchFamily="34" charset="0"/>
                <a:ea typeface="Noto Sans CJK KR" pitchFamily="34" charset="-122"/>
                <a:cs typeface="Noto Sans CJK KR" pitchFamily="34" charset="-120"/>
              </a:rPr>
              <a:t>확인된 사실</a:t>
            </a:r>
            <a:endParaRPr lang="en-US" sz="1800" dirty="0"/>
          </a:p>
        </p:txBody>
      </p:sp>
      <p:sp>
        <p:nvSpPr>
          <p:cNvPr id="12" name="Text 10"/>
          <p:cNvSpPr txBox="1"/>
          <p:nvPr/>
        </p:nvSpPr>
        <p:spPr>
          <a:xfrm>
            <a:off x="4654296" y="1956816"/>
            <a:ext cx="6309360" cy="475488"/>
          </a:xfrm>
          <a:prstGeom prst="rect">
            <a:avLst/>
          </a:prstGeom>
          <a:noFill/>
          <a:ln/>
        </p:spPr>
        <p:txBody>
          <a:bodyPr wrap="square" lIns="0" tIns="0" rIns="0" bIns="0" rtlCol="0" anchor="ctr">
            <a:normAutofit/>
          </a:bodyPr>
          <a:lstStyle/>
          <a:p>
            <a:pPr algn="l" indent="0" marL="0">
              <a:buNone/>
            </a:pPr>
            <a:r>
              <a:rPr lang="en-US" sz="1570" dirty="0">
                <a:solidFill>
                  <a:srgbClr val="617586"/>
                </a:solidFill>
                <a:latin typeface="Noto Sans CJK KR" pitchFamily="34" charset="0"/>
                <a:ea typeface="Noto Sans CJK KR" pitchFamily="34" charset="-122"/>
                <a:cs typeface="Noto Sans CJK KR" pitchFamily="34" charset="-120"/>
              </a:rPr>
              <a:t>해당 사고 원문에서 직접 확인</a:t>
            </a:r>
            <a:endParaRPr lang="en-US" sz="1570" dirty="0"/>
          </a:p>
        </p:txBody>
      </p:sp>
      <p:sp>
        <p:nvSpPr>
          <p:cNvPr id="13" name="Shape 11"/>
          <p:cNvSpPr/>
          <p:nvPr/>
        </p:nvSpPr>
        <p:spPr>
          <a:xfrm>
            <a:off x="813816" y="2752344"/>
            <a:ext cx="10561320" cy="758952"/>
          </a:xfrm>
          <a:prstGeom prst="roundRect">
            <a:avLst>
              <a:gd name="adj" fmla="val 18072"/>
            </a:avLst>
          </a:prstGeom>
          <a:solidFill>
            <a:srgbClr val="FFFFFF"/>
          </a:solidFill>
          <a:ln w="12700">
            <a:solidFill>
              <a:srgbClr val="D7E2E9"/>
            </a:solidFill>
            <a:prstDash val="solid"/>
          </a:ln>
        </p:spPr>
      </p:sp>
      <p:sp>
        <p:nvSpPr>
          <p:cNvPr id="14" name="Shape 12"/>
          <p:cNvSpPr/>
          <p:nvPr/>
        </p:nvSpPr>
        <p:spPr>
          <a:xfrm>
            <a:off x="987552" y="2889504"/>
            <a:ext cx="484632" cy="484632"/>
          </a:xfrm>
          <a:prstGeom prst="roundRect">
            <a:avLst>
              <a:gd name="adj" fmla="val 28302"/>
            </a:avLst>
          </a:prstGeom>
          <a:solidFill>
            <a:srgbClr val="195C81"/>
          </a:solidFill>
          <a:ln w="12700">
            <a:solidFill>
              <a:srgbClr val="195C81">
                <a:alpha val="0"/>
              </a:srgbClr>
            </a:solidFill>
            <a:prstDash val="solid"/>
          </a:ln>
        </p:spPr>
      </p:sp>
      <p:sp>
        <p:nvSpPr>
          <p:cNvPr id="15" name="Text 13"/>
          <p:cNvSpPr txBox="1"/>
          <p:nvPr/>
        </p:nvSpPr>
        <p:spPr>
          <a:xfrm>
            <a:off x="1060704" y="2935224"/>
            <a:ext cx="310896" cy="33832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Noto Sans CJK KR" pitchFamily="34" charset="0"/>
                <a:ea typeface="Noto Sans CJK KR" pitchFamily="34" charset="-122"/>
                <a:cs typeface="Noto Sans CJK KR" pitchFamily="34" charset="-120"/>
              </a:rPr>
              <a:t>R</a:t>
            </a:r>
            <a:endParaRPr lang="en-US" sz="1700" dirty="0"/>
          </a:p>
        </p:txBody>
      </p:sp>
      <p:sp>
        <p:nvSpPr>
          <p:cNvPr id="16" name="Text 14"/>
          <p:cNvSpPr txBox="1"/>
          <p:nvPr/>
        </p:nvSpPr>
        <p:spPr>
          <a:xfrm>
            <a:off x="1691640" y="2862072"/>
            <a:ext cx="2880360" cy="484632"/>
          </a:xfrm>
          <a:prstGeom prst="rect">
            <a:avLst/>
          </a:prstGeom>
          <a:noFill/>
          <a:ln/>
        </p:spPr>
        <p:txBody>
          <a:bodyPr wrap="square" lIns="0" tIns="0" rIns="0" bIns="0" rtlCol="0" anchor="ctr">
            <a:normAutofit/>
          </a:bodyPr>
          <a:lstStyle/>
          <a:p>
            <a:pPr algn="l" indent="0" marL="0">
              <a:buNone/>
            </a:pPr>
            <a:r>
              <a:rPr lang="en-US" sz="1800" b="1" dirty="0">
                <a:solidFill>
                  <a:srgbClr val="173149"/>
                </a:solidFill>
                <a:latin typeface="Noto Sans CJK KR" pitchFamily="34" charset="0"/>
                <a:ea typeface="Noto Sans CJK KR" pitchFamily="34" charset="-122"/>
                <a:cs typeface="Noto Sans CJK KR" pitchFamily="34" charset="-120"/>
              </a:rPr>
              <a:t>다른 사례 참고</a:t>
            </a:r>
            <a:endParaRPr lang="en-US" sz="1800" dirty="0"/>
          </a:p>
        </p:txBody>
      </p:sp>
      <p:sp>
        <p:nvSpPr>
          <p:cNvPr id="17" name="Text 15"/>
          <p:cNvSpPr txBox="1"/>
          <p:nvPr/>
        </p:nvSpPr>
        <p:spPr>
          <a:xfrm>
            <a:off x="4654296" y="2880360"/>
            <a:ext cx="6309360" cy="475488"/>
          </a:xfrm>
          <a:prstGeom prst="rect">
            <a:avLst/>
          </a:prstGeom>
          <a:noFill/>
          <a:ln/>
        </p:spPr>
        <p:txBody>
          <a:bodyPr wrap="square" lIns="0" tIns="0" rIns="0" bIns="0" rtlCol="0" anchor="ctr">
            <a:normAutofit/>
          </a:bodyPr>
          <a:lstStyle/>
          <a:p>
            <a:pPr algn="l" indent="0" marL="0">
              <a:buNone/>
            </a:pPr>
            <a:r>
              <a:rPr lang="en-US" sz="1570" dirty="0">
                <a:solidFill>
                  <a:srgbClr val="617586"/>
                </a:solidFill>
                <a:latin typeface="Noto Sans CJK KR" pitchFamily="34" charset="0"/>
                <a:ea typeface="Noto Sans CJK KR" pitchFamily="34" charset="-122"/>
                <a:cs typeface="Noto Sans CJK KR" pitchFamily="34" charset="-120"/>
              </a:rPr>
              <a:t>독립 자료의 행위·기술을 참고</a:t>
            </a:r>
            <a:endParaRPr lang="en-US" sz="1570" dirty="0"/>
          </a:p>
        </p:txBody>
      </p:sp>
      <p:sp>
        <p:nvSpPr>
          <p:cNvPr id="18" name="Shape 16"/>
          <p:cNvSpPr/>
          <p:nvPr/>
        </p:nvSpPr>
        <p:spPr>
          <a:xfrm>
            <a:off x="813816" y="3675888"/>
            <a:ext cx="10561320" cy="758952"/>
          </a:xfrm>
          <a:prstGeom prst="roundRect">
            <a:avLst>
              <a:gd name="adj" fmla="val 18072"/>
            </a:avLst>
          </a:prstGeom>
          <a:solidFill>
            <a:srgbClr val="FFFFFF"/>
          </a:solidFill>
          <a:ln w="12700">
            <a:solidFill>
              <a:srgbClr val="D7E2E9"/>
            </a:solidFill>
            <a:prstDash val="solid"/>
          </a:ln>
        </p:spPr>
      </p:sp>
      <p:sp>
        <p:nvSpPr>
          <p:cNvPr id="19" name="Shape 17"/>
          <p:cNvSpPr/>
          <p:nvPr/>
        </p:nvSpPr>
        <p:spPr>
          <a:xfrm>
            <a:off x="987552" y="3813048"/>
            <a:ext cx="484632" cy="484632"/>
          </a:xfrm>
          <a:prstGeom prst="roundRect">
            <a:avLst>
              <a:gd name="adj" fmla="val 28302"/>
            </a:avLst>
          </a:prstGeom>
          <a:solidFill>
            <a:srgbClr val="B76A19"/>
          </a:solidFill>
          <a:ln w="12700">
            <a:solidFill>
              <a:srgbClr val="B76A19">
                <a:alpha val="0"/>
              </a:srgbClr>
            </a:solidFill>
            <a:prstDash val="solid"/>
          </a:ln>
        </p:spPr>
      </p:sp>
      <p:sp>
        <p:nvSpPr>
          <p:cNvPr id="20" name="Text 18"/>
          <p:cNvSpPr txBox="1"/>
          <p:nvPr/>
        </p:nvSpPr>
        <p:spPr>
          <a:xfrm>
            <a:off x="1060704" y="3858768"/>
            <a:ext cx="310896" cy="33832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Noto Sans CJK KR" pitchFamily="34" charset="0"/>
                <a:ea typeface="Noto Sans CJK KR" pitchFamily="34" charset="-122"/>
                <a:cs typeface="Noto Sans CJK KR" pitchFamily="34" charset="-120"/>
              </a:rPr>
              <a:t>H</a:t>
            </a:r>
            <a:endParaRPr lang="en-US" sz="1700" dirty="0"/>
          </a:p>
        </p:txBody>
      </p:sp>
      <p:sp>
        <p:nvSpPr>
          <p:cNvPr id="21" name="Text 19"/>
          <p:cNvSpPr txBox="1"/>
          <p:nvPr/>
        </p:nvSpPr>
        <p:spPr>
          <a:xfrm>
            <a:off x="1691640" y="3785616"/>
            <a:ext cx="2880360" cy="484632"/>
          </a:xfrm>
          <a:prstGeom prst="rect">
            <a:avLst/>
          </a:prstGeom>
          <a:noFill/>
          <a:ln/>
        </p:spPr>
        <p:txBody>
          <a:bodyPr wrap="square" lIns="0" tIns="0" rIns="0" bIns="0" rtlCol="0" anchor="ctr">
            <a:normAutofit/>
          </a:bodyPr>
          <a:lstStyle/>
          <a:p>
            <a:pPr algn="l" indent="0" marL="0">
              <a:buNone/>
            </a:pPr>
            <a:r>
              <a:rPr lang="en-US" sz="1800" b="1" dirty="0">
                <a:solidFill>
                  <a:srgbClr val="173149"/>
                </a:solidFill>
                <a:latin typeface="Noto Sans CJK KR" pitchFamily="34" charset="0"/>
                <a:ea typeface="Noto Sans CJK KR" pitchFamily="34" charset="-122"/>
                <a:cs typeface="Noto Sans CJK KR" pitchFamily="34" charset="-120"/>
              </a:rPr>
              <a:t>훈련용 가정</a:t>
            </a:r>
            <a:endParaRPr lang="en-US" sz="1800" dirty="0"/>
          </a:p>
        </p:txBody>
      </p:sp>
      <p:sp>
        <p:nvSpPr>
          <p:cNvPr id="22" name="Text 20"/>
          <p:cNvSpPr txBox="1"/>
          <p:nvPr/>
        </p:nvSpPr>
        <p:spPr>
          <a:xfrm>
            <a:off x="4654296" y="3803904"/>
            <a:ext cx="6309360" cy="475488"/>
          </a:xfrm>
          <a:prstGeom prst="rect">
            <a:avLst/>
          </a:prstGeom>
          <a:noFill/>
          <a:ln/>
        </p:spPr>
        <p:txBody>
          <a:bodyPr wrap="square" lIns="0" tIns="0" rIns="0" bIns="0" rtlCol="0" anchor="ctr">
            <a:normAutofit/>
          </a:bodyPr>
          <a:lstStyle/>
          <a:p>
            <a:pPr algn="l" indent="0" marL="0">
              <a:buNone/>
            </a:pPr>
            <a:r>
              <a:rPr lang="en-US" sz="1570" dirty="0">
                <a:solidFill>
                  <a:srgbClr val="617586"/>
                </a:solidFill>
                <a:latin typeface="Noto Sans CJK KR" pitchFamily="34" charset="0"/>
                <a:ea typeface="Noto Sans CJK KR" pitchFamily="34" charset="-122"/>
                <a:cs typeface="Noto Sans CJK KR" pitchFamily="34" charset="-120"/>
              </a:rPr>
              <a:t>학습을 위해 설정한 상황</a:t>
            </a:r>
            <a:endParaRPr lang="en-US" sz="1570" dirty="0"/>
          </a:p>
        </p:txBody>
      </p:sp>
      <p:sp>
        <p:nvSpPr>
          <p:cNvPr id="23" name="Shape 21"/>
          <p:cNvSpPr/>
          <p:nvPr/>
        </p:nvSpPr>
        <p:spPr>
          <a:xfrm>
            <a:off x="813816" y="4599432"/>
            <a:ext cx="10561320" cy="758952"/>
          </a:xfrm>
          <a:prstGeom prst="roundRect">
            <a:avLst>
              <a:gd name="adj" fmla="val 18072"/>
            </a:avLst>
          </a:prstGeom>
          <a:solidFill>
            <a:srgbClr val="FFFFFF"/>
          </a:solidFill>
          <a:ln w="12700">
            <a:solidFill>
              <a:srgbClr val="D7E2E9"/>
            </a:solidFill>
            <a:prstDash val="solid"/>
          </a:ln>
        </p:spPr>
      </p:sp>
      <p:sp>
        <p:nvSpPr>
          <p:cNvPr id="24" name="Shape 22"/>
          <p:cNvSpPr/>
          <p:nvPr/>
        </p:nvSpPr>
        <p:spPr>
          <a:xfrm>
            <a:off x="987552" y="4736592"/>
            <a:ext cx="484632" cy="484632"/>
          </a:xfrm>
          <a:prstGeom prst="roundRect">
            <a:avLst>
              <a:gd name="adj" fmla="val 28302"/>
            </a:avLst>
          </a:prstGeom>
          <a:solidFill>
            <a:srgbClr val="B34843"/>
          </a:solidFill>
          <a:ln w="12700">
            <a:solidFill>
              <a:srgbClr val="B34843">
                <a:alpha val="0"/>
              </a:srgbClr>
            </a:solidFill>
            <a:prstDash val="solid"/>
          </a:ln>
        </p:spPr>
      </p:sp>
      <p:sp>
        <p:nvSpPr>
          <p:cNvPr id="25" name="Text 23"/>
          <p:cNvSpPr txBox="1"/>
          <p:nvPr/>
        </p:nvSpPr>
        <p:spPr>
          <a:xfrm>
            <a:off x="1060704" y="4782312"/>
            <a:ext cx="310896" cy="33832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Noto Sans CJK KR" pitchFamily="34" charset="0"/>
                <a:ea typeface="Noto Sans CJK KR" pitchFamily="34" charset="-122"/>
                <a:cs typeface="Noto Sans CJK KR" pitchFamily="34" charset="-120"/>
              </a:rPr>
              <a:t>U</a:t>
            </a:r>
            <a:endParaRPr lang="en-US" sz="1700" dirty="0"/>
          </a:p>
        </p:txBody>
      </p:sp>
      <p:sp>
        <p:nvSpPr>
          <p:cNvPr id="26" name="Text 24"/>
          <p:cNvSpPr txBox="1"/>
          <p:nvPr/>
        </p:nvSpPr>
        <p:spPr>
          <a:xfrm>
            <a:off x="1691640" y="4709160"/>
            <a:ext cx="2880360" cy="484632"/>
          </a:xfrm>
          <a:prstGeom prst="rect">
            <a:avLst/>
          </a:prstGeom>
          <a:noFill/>
          <a:ln/>
        </p:spPr>
        <p:txBody>
          <a:bodyPr wrap="square" lIns="0" tIns="0" rIns="0" bIns="0" rtlCol="0" anchor="ctr">
            <a:normAutofit/>
          </a:bodyPr>
          <a:lstStyle/>
          <a:p>
            <a:pPr algn="l" indent="0" marL="0">
              <a:buNone/>
            </a:pPr>
            <a:r>
              <a:rPr lang="en-US" sz="1800" b="1" dirty="0">
                <a:solidFill>
                  <a:srgbClr val="173149"/>
                </a:solidFill>
                <a:latin typeface="Noto Sans CJK KR" pitchFamily="34" charset="0"/>
                <a:ea typeface="Noto Sans CJK KR" pitchFamily="34" charset="-122"/>
                <a:cs typeface="Noto Sans CJK KR" pitchFamily="34" charset="-120"/>
              </a:rPr>
              <a:t>미확인</a:t>
            </a:r>
            <a:endParaRPr lang="en-US" sz="1800" dirty="0"/>
          </a:p>
        </p:txBody>
      </p:sp>
      <p:sp>
        <p:nvSpPr>
          <p:cNvPr id="27" name="Text 25"/>
          <p:cNvSpPr txBox="1"/>
          <p:nvPr/>
        </p:nvSpPr>
        <p:spPr>
          <a:xfrm>
            <a:off x="4654296" y="4727448"/>
            <a:ext cx="6309360" cy="475488"/>
          </a:xfrm>
          <a:prstGeom prst="rect">
            <a:avLst/>
          </a:prstGeom>
          <a:noFill/>
          <a:ln/>
        </p:spPr>
        <p:txBody>
          <a:bodyPr wrap="square" lIns="0" tIns="0" rIns="0" bIns="0" rtlCol="0" anchor="ctr">
            <a:normAutofit/>
          </a:bodyPr>
          <a:lstStyle/>
          <a:p>
            <a:pPr algn="l" indent="0" marL="0">
              <a:buNone/>
            </a:pPr>
            <a:r>
              <a:rPr lang="en-US" sz="1570" dirty="0">
                <a:solidFill>
                  <a:srgbClr val="617586"/>
                </a:solidFill>
                <a:latin typeface="Noto Sans CJK KR" pitchFamily="34" charset="0"/>
                <a:ea typeface="Noto Sans CJK KR" pitchFamily="34" charset="-122"/>
                <a:cs typeface="Noto Sans CJK KR" pitchFamily="34" charset="-120"/>
              </a:rPr>
              <a:t>경로·원인·결과 정보가 없음</a:t>
            </a:r>
            <a:endParaRPr lang="en-US" sz="1570" dirty="0"/>
          </a:p>
        </p:txBody>
      </p:sp>
      <p:sp>
        <p:nvSpPr>
          <p:cNvPr id="28" name="Shape 26"/>
          <p:cNvSpPr/>
          <p:nvPr/>
        </p:nvSpPr>
        <p:spPr>
          <a:xfrm>
            <a:off x="813816" y="5733288"/>
            <a:ext cx="10561320" cy="438912"/>
          </a:xfrm>
          <a:prstGeom prst="roundRect">
            <a:avLst>
              <a:gd name="adj" fmla="val 31250"/>
            </a:avLst>
          </a:prstGeom>
          <a:solidFill>
            <a:srgbClr val="FFF3E5"/>
          </a:solidFill>
          <a:ln w="12700">
            <a:solidFill>
              <a:srgbClr val="FFF3E5">
                <a:alpha val="0"/>
              </a:srgbClr>
            </a:solidFill>
            <a:prstDash val="solid"/>
          </a:ln>
        </p:spPr>
      </p:sp>
      <p:sp>
        <p:nvSpPr>
          <p:cNvPr id="29" name="Text 27"/>
          <p:cNvSpPr txBox="1"/>
          <p:nvPr/>
        </p:nvSpPr>
        <p:spPr>
          <a:xfrm>
            <a:off x="960120" y="5788152"/>
            <a:ext cx="10213848" cy="274320"/>
          </a:xfrm>
          <a:prstGeom prst="rect">
            <a:avLst/>
          </a:prstGeom>
          <a:noFill/>
          <a:ln/>
        </p:spPr>
        <p:txBody>
          <a:bodyPr wrap="square" lIns="0" tIns="0" rIns="0" bIns="0" rtlCol="0" anchor="ctr">
            <a:normAutofit/>
          </a:bodyPr>
          <a:lstStyle/>
          <a:p>
            <a:pPr algn="l" indent="0" marL="0">
              <a:buNone/>
            </a:pPr>
            <a:r>
              <a:rPr lang="en-US" sz="1320" b="1" dirty="0">
                <a:solidFill>
                  <a:srgbClr val="B76A19"/>
                </a:solidFill>
                <a:latin typeface="Noto Sans CJK KR" pitchFamily="34" charset="0"/>
                <a:ea typeface="Noto Sans CJK KR" pitchFamily="34" charset="-122"/>
                <a:cs typeface="Noto Sans CJK KR" pitchFamily="34" charset="-120"/>
              </a:rPr>
              <a:t>원칙  |  서로 다른 사건의 단계를 연결한 흐름은 실제 공격 복원이 아니라 ‘합성 교육 시나리오’입니다.</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VERIFIED CASE</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사례: 2019년 USCG 상선 악성코드 사고</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출처: USCG Marine Safety Alert 06-19 (2019-07-08), 공식 원문</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07</a:t>
            </a:r>
            <a:endParaRPr lang="en-US" sz="1000" dirty="0"/>
          </a:p>
        </p:txBody>
      </p:sp>
      <p:sp>
        <p:nvSpPr>
          <p:cNvPr id="8" name="Shape 6"/>
          <p:cNvSpPr/>
          <p:nvPr/>
        </p:nvSpPr>
        <p:spPr>
          <a:xfrm>
            <a:off x="676656" y="1792224"/>
            <a:ext cx="6629400" cy="3474720"/>
          </a:xfrm>
          <a:prstGeom prst="roundRect">
            <a:avLst>
              <a:gd name="adj" fmla="val 3947"/>
            </a:avLst>
          </a:prstGeom>
          <a:solidFill>
            <a:srgbClr val="FFFFFF"/>
          </a:solidFill>
          <a:ln w="12700">
            <a:solidFill>
              <a:srgbClr val="D7E2E9"/>
            </a:solidFill>
            <a:prstDash val="solid"/>
          </a:ln>
        </p:spPr>
      </p:sp>
      <p:sp>
        <p:nvSpPr>
          <p:cNvPr id="9" name="Shape 7"/>
          <p:cNvSpPr/>
          <p:nvPr/>
        </p:nvSpPr>
        <p:spPr>
          <a:xfrm>
            <a:off x="676656" y="1792224"/>
            <a:ext cx="73152" cy="3474720"/>
          </a:xfrm>
          <a:prstGeom prst="rect">
            <a:avLst/>
          </a:prstGeom>
          <a:solidFill>
            <a:srgbClr val="287C6B"/>
          </a:solidFill>
          <a:ln w="12700">
            <a:solidFill>
              <a:srgbClr val="287C6B">
                <a:alpha val="0"/>
              </a:srgbClr>
            </a:solidFill>
            <a:prstDash val="solid"/>
          </a:ln>
        </p:spPr>
      </p:sp>
      <p:sp>
        <p:nvSpPr>
          <p:cNvPr id="10" name="Text 8"/>
          <p:cNvSpPr txBox="1"/>
          <p:nvPr/>
        </p:nvSpPr>
        <p:spPr>
          <a:xfrm>
            <a:off x="877824" y="1947672"/>
            <a:ext cx="6227064" cy="420624"/>
          </a:xfrm>
          <a:prstGeom prst="rect">
            <a:avLst/>
          </a:prstGeom>
          <a:noFill/>
          <a:ln/>
        </p:spPr>
        <p:txBody>
          <a:bodyPr wrap="square" lIns="0" tIns="0" rIns="0" bIns="0" rtlCol="0" anchor="ctr">
            <a:normAutofit/>
          </a:bodyPr>
          <a:lstStyle/>
          <a:p>
            <a:pPr algn="l" indent="0" marL="0">
              <a:buNone/>
            </a:pPr>
            <a:r>
              <a:rPr lang="en-US" sz="1600" b="1" dirty="0">
                <a:solidFill>
                  <a:srgbClr val="112A3F"/>
                </a:solidFill>
                <a:latin typeface="Noto Sans CJK KR" pitchFamily="34" charset="0"/>
                <a:ea typeface="Noto Sans CJK KR" pitchFamily="34" charset="-122"/>
                <a:cs typeface="Noto Sans CJK KR" pitchFamily="34" charset="-120"/>
              </a:rPr>
              <a:t>공식 문서에서 확인한 내용</a:t>
            </a:r>
            <a:endParaRPr lang="en-US" sz="1600" dirty="0"/>
          </a:p>
        </p:txBody>
      </p:sp>
      <p:sp>
        <p:nvSpPr>
          <p:cNvPr id="11" name="Text 9"/>
          <p:cNvSpPr txBox="1"/>
          <p:nvPr/>
        </p:nvSpPr>
        <p:spPr>
          <a:xfrm>
            <a:off x="877824" y="2478024"/>
            <a:ext cx="6227064" cy="2642616"/>
          </a:xfrm>
          <a:prstGeom prst="rect">
            <a:avLst/>
          </a:prstGeom>
          <a:noFill/>
          <a:ln/>
        </p:spPr>
        <p:txBody>
          <a:bodyPr wrap="square" lIns="0" tIns="0" rIns="0" bIns="0" rtlCol="0" anchor="t">
            <a:normAutofit/>
          </a:bodyPr>
          <a:lstStyle/>
          <a:p>
            <a:pPr algn="l" indent="0" marL="0">
              <a:buNone/>
            </a:pPr>
            <a:r>
              <a:rPr lang="en-US" sz="1700" dirty="0">
                <a:solidFill>
                  <a:srgbClr val="173149"/>
                </a:solidFill>
                <a:latin typeface="Noto Sans CJK KR" pitchFamily="34" charset="0"/>
                <a:ea typeface="Noto Sans CJK KR" pitchFamily="34" charset="-122"/>
                <a:cs typeface="Noto Sans CJK KR" pitchFamily="34" charset="-120"/>
              </a:rPr>
              <a:t>• 2019년 2월, 뉴욕·뉴저지항으로 향하던 선박에서 사이버사고 보고</a:t>
            </a:r>
            <a:endParaRPr lang="en-US" sz="1700" dirty="0"/>
          </a:p>
          <a:p>
            <a:pPr algn="l" indent="0" marL="0">
              <a:buNone/>
            </a:pPr>
            <a:r>
              <a:rPr lang="en-US" sz="1700" dirty="0">
                <a:solidFill>
                  <a:srgbClr val="173149"/>
                </a:solidFill>
                <a:latin typeface="Noto Sans CJK KR" pitchFamily="34" charset="0"/>
                <a:ea typeface="Noto Sans CJK KR" pitchFamily="34" charset="-122"/>
                <a:cs typeface="Noto Sans CJK KR" pitchFamily="34" charset="-120"/>
              </a:rPr>
              <a:t>• 선내 컴퓨터망 기능이 악성코드로 크게 저하</a:t>
            </a:r>
            <a:endParaRPr lang="en-US" sz="1700" dirty="0"/>
          </a:p>
          <a:p>
            <a:pPr algn="l" indent="0" marL="0">
              <a:buNone/>
            </a:pPr>
            <a:r>
              <a:rPr lang="en-US" sz="1700" dirty="0">
                <a:solidFill>
                  <a:srgbClr val="173149"/>
                </a:solidFill>
                <a:latin typeface="Noto Sans CJK KR" pitchFamily="34" charset="0"/>
                <a:ea typeface="Noto Sans CJK KR" pitchFamily="34" charset="-122"/>
                <a:cs typeface="Noto Sans CJK KR" pitchFamily="34" charset="-120"/>
              </a:rPr>
              <a:t>• 필수 선박 제어시스템에는 영향이 없었음</a:t>
            </a:r>
            <a:endParaRPr lang="en-US" sz="1700" dirty="0"/>
          </a:p>
          <a:p>
            <a:pPr algn="l" indent="0" marL="0">
              <a:buNone/>
            </a:pPr>
            <a:r>
              <a:rPr lang="en-US" sz="1700" dirty="0">
                <a:solidFill>
                  <a:srgbClr val="173149"/>
                </a:solidFill>
                <a:latin typeface="Noto Sans CJK KR" pitchFamily="34" charset="0"/>
                <a:ea typeface="Noto Sans CJK KR" pitchFamily="34" charset="-122"/>
                <a:cs typeface="Noto Sans CJK KR" pitchFamily="34" charset="-120"/>
              </a:rPr>
              <a:t>• 공용 계정·검사 없는 외부 USB 사용 등이 취약점으로 지적됨</a:t>
            </a:r>
            <a:endParaRPr lang="en-US" sz="1700" dirty="0"/>
          </a:p>
        </p:txBody>
      </p:sp>
      <p:sp>
        <p:nvSpPr>
          <p:cNvPr id="12" name="Shape 10"/>
          <p:cNvSpPr/>
          <p:nvPr/>
        </p:nvSpPr>
        <p:spPr>
          <a:xfrm>
            <a:off x="7607808" y="1792224"/>
            <a:ext cx="3886200" cy="3474720"/>
          </a:xfrm>
          <a:prstGeom prst="roundRect">
            <a:avLst>
              <a:gd name="adj" fmla="val 3947"/>
            </a:avLst>
          </a:prstGeom>
          <a:solidFill>
            <a:srgbClr val="FFF3E5"/>
          </a:solidFill>
          <a:ln w="12700">
            <a:solidFill>
              <a:srgbClr val="E9CBAF"/>
            </a:solidFill>
            <a:prstDash val="solid"/>
          </a:ln>
        </p:spPr>
      </p:sp>
      <p:sp>
        <p:nvSpPr>
          <p:cNvPr id="13" name="Text 11"/>
          <p:cNvSpPr txBox="1"/>
          <p:nvPr/>
        </p:nvSpPr>
        <p:spPr>
          <a:xfrm>
            <a:off x="7863840" y="2029968"/>
            <a:ext cx="3291840" cy="457200"/>
          </a:xfrm>
          <a:prstGeom prst="rect">
            <a:avLst/>
          </a:prstGeom>
          <a:noFill/>
          <a:ln/>
        </p:spPr>
        <p:txBody>
          <a:bodyPr wrap="square" lIns="0" tIns="0" rIns="0" bIns="0" rtlCol="0" anchor="ctr">
            <a:normAutofit/>
          </a:bodyPr>
          <a:lstStyle/>
          <a:p>
            <a:pPr algn="l" indent="0" marL="0">
              <a:buNone/>
            </a:pPr>
            <a:r>
              <a:rPr lang="en-US" sz="1900" b="1" dirty="0">
                <a:solidFill>
                  <a:srgbClr val="B76A19"/>
                </a:solidFill>
                <a:latin typeface="Noto Sans CJK KR" pitchFamily="34" charset="0"/>
                <a:ea typeface="Noto Sans CJK KR" pitchFamily="34" charset="-122"/>
                <a:cs typeface="Noto Sans CJK KR" pitchFamily="34" charset="-120"/>
              </a:rPr>
              <a:t>확정할 수 없는 정보</a:t>
            </a:r>
            <a:endParaRPr lang="en-US" sz="1900" dirty="0"/>
          </a:p>
        </p:txBody>
      </p:sp>
      <p:sp>
        <p:nvSpPr>
          <p:cNvPr id="14" name="Text 12"/>
          <p:cNvSpPr txBox="1"/>
          <p:nvPr/>
        </p:nvSpPr>
        <p:spPr>
          <a:xfrm>
            <a:off x="7863840" y="2770632"/>
            <a:ext cx="3209544" cy="1655064"/>
          </a:xfrm>
          <a:prstGeom prst="rect">
            <a:avLst/>
          </a:prstGeom>
          <a:noFill/>
          <a:ln/>
        </p:spPr>
        <p:txBody>
          <a:bodyPr wrap="square" lIns="0" tIns="0" rIns="0" bIns="0" rtlCol="0" anchor="t">
            <a:normAutofit/>
          </a:bodyPr>
          <a:lstStyle/>
          <a:p>
            <a:pPr algn="l" indent="0" marL="0">
              <a:buNone/>
            </a:pPr>
            <a:r>
              <a:rPr lang="en-US" sz="1700" dirty="0">
                <a:solidFill>
                  <a:srgbClr val="173149"/>
                </a:solidFill>
                <a:latin typeface="Noto Sans CJK KR" pitchFamily="34" charset="0"/>
                <a:ea typeface="Noto Sans CJK KR" pitchFamily="34" charset="-122"/>
                <a:cs typeface="Noto Sans CJK KR" pitchFamily="34" charset="-120"/>
              </a:rPr>
              <a:t>실제 감염 진입 경로</a:t>
            </a:r>
            <a:endParaRPr lang="en-US" sz="1700" dirty="0"/>
          </a:p>
          <a:p>
            <a:pPr algn="l" indent="0" marL="0">
              <a:buNone/>
            </a:pPr>
            <a:r>
              <a:rPr lang="en-US" sz="1700" dirty="0">
                <a:solidFill>
                  <a:srgbClr val="173149"/>
                </a:solidFill>
                <a:latin typeface="Noto Sans CJK KR" pitchFamily="34" charset="0"/>
                <a:ea typeface="Noto Sans CJK KR" pitchFamily="34" charset="-122"/>
                <a:cs typeface="Noto Sans CJK KR" pitchFamily="34" charset="-120"/>
              </a:rPr>
              <a:t>공격자의 구체적 이동 단계</a:t>
            </a:r>
            <a:endParaRPr lang="en-US" sz="1700" dirty="0"/>
          </a:p>
          <a:p>
            <a:pPr algn="l" indent="0" marL="0">
              <a:buNone/>
            </a:pPr>
            <a:r>
              <a:rPr lang="en-US" sz="1700" dirty="0">
                <a:solidFill>
                  <a:srgbClr val="173149"/>
                </a:solidFill>
                <a:latin typeface="Noto Sans CJK KR" pitchFamily="34" charset="0"/>
                <a:ea typeface="Noto Sans CJK KR" pitchFamily="34" charset="-122"/>
                <a:cs typeface="Noto Sans CJK KR" pitchFamily="34" charset="-120"/>
              </a:rPr>
              <a:t>선박 제어장치 침해 사실</a:t>
            </a:r>
            <a:endParaRPr lang="en-US" sz="1700" dirty="0"/>
          </a:p>
        </p:txBody>
      </p:sp>
      <p:sp>
        <p:nvSpPr>
          <p:cNvPr id="15" name="Shape 13"/>
          <p:cNvSpPr/>
          <p:nvPr/>
        </p:nvSpPr>
        <p:spPr>
          <a:xfrm>
            <a:off x="722376" y="5495544"/>
            <a:ext cx="10780776" cy="466344"/>
          </a:xfrm>
          <a:prstGeom prst="roundRect">
            <a:avLst>
              <a:gd name="adj" fmla="val 29412"/>
            </a:avLst>
          </a:prstGeom>
          <a:solidFill>
            <a:srgbClr val="E6F2F5"/>
          </a:solidFill>
          <a:ln w="12700">
            <a:solidFill>
              <a:srgbClr val="E6F2F5">
                <a:alpha val="0"/>
              </a:srgbClr>
            </a:solidFill>
            <a:prstDash val="solid"/>
          </a:ln>
        </p:spPr>
      </p:sp>
      <p:sp>
        <p:nvSpPr>
          <p:cNvPr id="16" name="Text 14"/>
          <p:cNvSpPr txBox="1"/>
          <p:nvPr/>
        </p:nvSpPr>
        <p:spPr>
          <a:xfrm>
            <a:off x="877824" y="5577840"/>
            <a:ext cx="10387584" cy="283464"/>
          </a:xfrm>
          <a:prstGeom prst="rect">
            <a:avLst/>
          </a:prstGeom>
          <a:noFill/>
          <a:ln/>
        </p:spPr>
        <p:txBody>
          <a:bodyPr wrap="square" lIns="0" tIns="0" rIns="0" bIns="0" rtlCol="0" anchor="ctr">
            <a:normAutofit/>
          </a:bodyPr>
          <a:lstStyle/>
          <a:p>
            <a:pPr algn="l" indent="0" marL="0">
              <a:buNone/>
            </a:pPr>
            <a:r>
              <a:rPr lang="en-US" sz="1350" b="1" dirty="0">
                <a:solidFill>
                  <a:srgbClr val="112A3F"/>
                </a:solidFill>
                <a:latin typeface="Noto Sans CJK KR" pitchFamily="34" charset="0"/>
                <a:ea typeface="Noto Sans CJK KR" pitchFamily="34" charset="-122"/>
                <a:cs typeface="Noto Sans CJK KR" pitchFamily="34" charset="-120"/>
              </a:rPr>
              <a:t>USB 무검사 사용은 관찰된 취약 관행(F)  ≠  그 USB가 감염 원인으로 확인됨(H 아님/U)</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SYSTEM DEMO</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프로토타입은 조회에서 대응 카드까지 연결됩니다</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실제 v2 소스·기능 구성 확인 / 정확한 동작은 최종 커밋으로 시연 재확인 필요</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08</a:t>
            </a:r>
            <a:endParaRPr lang="en-US" sz="1000" dirty="0"/>
          </a:p>
        </p:txBody>
      </p:sp>
      <p:sp>
        <p:nvSpPr>
          <p:cNvPr id="8" name="Shape 6"/>
          <p:cNvSpPr/>
          <p:nvPr/>
        </p:nvSpPr>
        <p:spPr>
          <a:xfrm>
            <a:off x="658368" y="2212848"/>
            <a:ext cx="2176272" cy="1947672"/>
          </a:xfrm>
          <a:prstGeom prst="roundRect">
            <a:avLst>
              <a:gd name="adj" fmla="val 7042"/>
            </a:avLst>
          </a:prstGeom>
          <a:solidFill>
            <a:srgbClr val="FFFFFF"/>
          </a:solidFill>
          <a:ln w="12700">
            <a:solidFill>
              <a:srgbClr val="D7E2E9"/>
            </a:solidFill>
            <a:prstDash val="solid"/>
          </a:ln>
        </p:spPr>
      </p:sp>
      <p:sp>
        <p:nvSpPr>
          <p:cNvPr id="9" name="Shape 7"/>
          <p:cNvSpPr/>
          <p:nvPr/>
        </p:nvSpPr>
        <p:spPr>
          <a:xfrm>
            <a:off x="658368" y="2212848"/>
            <a:ext cx="2176272" cy="91440"/>
          </a:xfrm>
          <a:prstGeom prst="roundRect">
            <a:avLst>
              <a:gd name="adj" fmla="val 150000"/>
            </a:avLst>
          </a:prstGeom>
          <a:solidFill>
            <a:srgbClr val="195C81"/>
          </a:solidFill>
          <a:ln w="12700">
            <a:solidFill>
              <a:srgbClr val="195C81">
                <a:alpha val="0"/>
              </a:srgbClr>
            </a:solidFill>
            <a:prstDash val="solid"/>
          </a:ln>
        </p:spPr>
      </p:sp>
      <p:sp>
        <p:nvSpPr>
          <p:cNvPr id="10" name="Text 8"/>
          <p:cNvSpPr txBox="1"/>
          <p:nvPr/>
        </p:nvSpPr>
        <p:spPr>
          <a:xfrm>
            <a:off x="795528" y="2587752"/>
            <a:ext cx="1901952" cy="475488"/>
          </a:xfrm>
          <a:prstGeom prst="rect">
            <a:avLst/>
          </a:prstGeom>
          <a:noFill/>
          <a:ln/>
        </p:spPr>
        <p:txBody>
          <a:bodyPr wrap="square" lIns="0" tIns="0" rIns="0" bIns="0" rtlCol="0" anchor="ctr">
            <a:normAutofit/>
          </a:bodyPr>
          <a:lstStyle/>
          <a:p>
            <a:pPr algn="ctr" indent="0" marL="0">
              <a:buNone/>
            </a:pPr>
            <a:r>
              <a:rPr lang="en-US" sz="1630" b="1" dirty="0">
                <a:solidFill>
                  <a:srgbClr val="173149"/>
                </a:solidFill>
                <a:latin typeface="Noto Sans CJK KR" pitchFamily="34" charset="0"/>
                <a:ea typeface="Noto Sans CJK KR" pitchFamily="34" charset="-122"/>
                <a:cs typeface="Noto Sans CJK KR" pitchFamily="34" charset="-120"/>
              </a:rPr>
              <a:t>데이터 선별</a:t>
            </a:r>
            <a:endParaRPr lang="en-US" sz="1630" dirty="0"/>
          </a:p>
        </p:txBody>
      </p:sp>
      <p:sp>
        <p:nvSpPr>
          <p:cNvPr id="11" name="Text 9"/>
          <p:cNvSpPr txBox="1"/>
          <p:nvPr/>
        </p:nvSpPr>
        <p:spPr>
          <a:xfrm>
            <a:off x="795528" y="3264408"/>
            <a:ext cx="1901952" cy="521208"/>
          </a:xfrm>
          <a:prstGeom prst="rect">
            <a:avLst/>
          </a:prstGeom>
          <a:noFill/>
          <a:ln/>
        </p:spPr>
        <p:txBody>
          <a:bodyPr wrap="square" lIns="0" tIns="0" rIns="0" bIns="0" rtlCol="0" anchor="ctr">
            <a:normAutofit/>
          </a:bodyPr>
          <a:lstStyle/>
          <a:p>
            <a:pPr algn="ctr" indent="0" marL="0">
              <a:buNone/>
            </a:pPr>
            <a:r>
              <a:rPr lang="en-US" sz="1250" dirty="0">
                <a:solidFill>
                  <a:srgbClr val="617586"/>
                </a:solidFill>
                <a:latin typeface="Noto Sans CJK KR" pitchFamily="34" charset="0"/>
                <a:ea typeface="Noto Sans CJK KR" pitchFamily="34" charset="-122"/>
                <a:cs typeface="Noto Sans CJK KR" pitchFamily="34" charset="-120"/>
              </a:rPr>
              <a:t>897행 → 분류·선별</a:t>
            </a:r>
            <a:endParaRPr lang="en-US" sz="1250" dirty="0"/>
          </a:p>
        </p:txBody>
      </p:sp>
      <p:sp>
        <p:nvSpPr>
          <p:cNvPr id="12" name="Text 10"/>
          <p:cNvSpPr txBox="1"/>
          <p:nvPr/>
        </p:nvSpPr>
        <p:spPr>
          <a:xfrm>
            <a:off x="2724912" y="2971800"/>
            <a:ext cx="292608" cy="493776"/>
          </a:xfrm>
          <a:prstGeom prst="rect">
            <a:avLst/>
          </a:prstGeom>
          <a:noFill/>
          <a:ln/>
        </p:spPr>
        <p:txBody>
          <a:bodyPr wrap="square" lIns="0" tIns="0" rIns="0" bIns="0" rtlCol="0" anchor="ctr">
            <a:normAutofit/>
          </a:bodyPr>
          <a:lstStyle/>
          <a:p>
            <a:pPr algn="ctr" indent="0" marL="0">
              <a:buNone/>
            </a:pPr>
            <a:r>
              <a:rPr lang="en-US" sz="2600" b="1" dirty="0">
                <a:solidFill>
                  <a:srgbClr val="0C8A91"/>
                </a:solidFill>
                <a:latin typeface="Noto Sans CJK KR" pitchFamily="34" charset="0"/>
                <a:ea typeface="Noto Sans CJK KR" pitchFamily="34" charset="-122"/>
                <a:cs typeface="Noto Sans CJK KR" pitchFamily="34" charset="-120"/>
              </a:rPr>
              <a:t>›</a:t>
            </a:r>
            <a:endParaRPr lang="en-US" sz="2600" dirty="0"/>
          </a:p>
        </p:txBody>
      </p:sp>
      <p:sp>
        <p:nvSpPr>
          <p:cNvPr id="13" name="Shape 11"/>
          <p:cNvSpPr/>
          <p:nvPr/>
        </p:nvSpPr>
        <p:spPr>
          <a:xfrm>
            <a:off x="2980944" y="2212848"/>
            <a:ext cx="2176272" cy="1947672"/>
          </a:xfrm>
          <a:prstGeom prst="roundRect">
            <a:avLst>
              <a:gd name="adj" fmla="val 7042"/>
            </a:avLst>
          </a:prstGeom>
          <a:solidFill>
            <a:srgbClr val="FFFFFF"/>
          </a:solidFill>
          <a:ln w="12700">
            <a:solidFill>
              <a:srgbClr val="D7E2E9"/>
            </a:solidFill>
            <a:prstDash val="solid"/>
          </a:ln>
        </p:spPr>
      </p:sp>
      <p:sp>
        <p:nvSpPr>
          <p:cNvPr id="14" name="Shape 12"/>
          <p:cNvSpPr/>
          <p:nvPr/>
        </p:nvSpPr>
        <p:spPr>
          <a:xfrm>
            <a:off x="2980944" y="2212848"/>
            <a:ext cx="2176272" cy="91440"/>
          </a:xfrm>
          <a:prstGeom prst="roundRect">
            <a:avLst>
              <a:gd name="adj" fmla="val 150000"/>
            </a:avLst>
          </a:prstGeom>
          <a:solidFill>
            <a:srgbClr val="195C81"/>
          </a:solidFill>
          <a:ln w="12700">
            <a:solidFill>
              <a:srgbClr val="195C81">
                <a:alpha val="0"/>
              </a:srgbClr>
            </a:solidFill>
            <a:prstDash val="solid"/>
          </a:ln>
        </p:spPr>
      </p:sp>
      <p:sp>
        <p:nvSpPr>
          <p:cNvPr id="15" name="Text 13"/>
          <p:cNvSpPr txBox="1"/>
          <p:nvPr/>
        </p:nvSpPr>
        <p:spPr>
          <a:xfrm>
            <a:off x="3118104" y="2587752"/>
            <a:ext cx="1901952" cy="475488"/>
          </a:xfrm>
          <a:prstGeom prst="rect">
            <a:avLst/>
          </a:prstGeom>
          <a:noFill/>
          <a:ln/>
        </p:spPr>
        <p:txBody>
          <a:bodyPr wrap="square" lIns="0" tIns="0" rIns="0" bIns="0" rtlCol="0" anchor="ctr">
            <a:normAutofit/>
          </a:bodyPr>
          <a:lstStyle/>
          <a:p>
            <a:pPr algn="ctr" indent="0" marL="0">
              <a:buNone/>
            </a:pPr>
            <a:r>
              <a:rPr lang="en-US" sz="1630" b="1" dirty="0">
                <a:solidFill>
                  <a:srgbClr val="173149"/>
                </a:solidFill>
                <a:latin typeface="Noto Sans CJK KR" pitchFamily="34" charset="0"/>
                <a:ea typeface="Noto Sans CJK KR" pitchFamily="34" charset="-122"/>
                <a:cs typeface="Noto Sans CJK KR" pitchFamily="34" charset="-120"/>
              </a:rPr>
              <a:t>위협 가시화</a:t>
            </a:r>
            <a:endParaRPr lang="en-US" sz="1630" dirty="0"/>
          </a:p>
        </p:txBody>
      </p:sp>
      <p:sp>
        <p:nvSpPr>
          <p:cNvPr id="16" name="Text 14"/>
          <p:cNvSpPr txBox="1"/>
          <p:nvPr/>
        </p:nvSpPr>
        <p:spPr>
          <a:xfrm>
            <a:off x="3118104" y="3264408"/>
            <a:ext cx="1901952" cy="521208"/>
          </a:xfrm>
          <a:prstGeom prst="rect">
            <a:avLst/>
          </a:prstGeom>
          <a:noFill/>
          <a:ln/>
        </p:spPr>
        <p:txBody>
          <a:bodyPr wrap="square" lIns="0" tIns="0" rIns="0" bIns="0" rtlCol="0" anchor="ctr">
            <a:normAutofit/>
          </a:bodyPr>
          <a:lstStyle/>
          <a:p>
            <a:pPr algn="ctr" indent="0" marL="0">
              <a:buNone/>
            </a:pPr>
            <a:r>
              <a:rPr lang="en-US" sz="1250" dirty="0">
                <a:solidFill>
                  <a:srgbClr val="617586"/>
                </a:solidFill>
                <a:latin typeface="Noto Sans CJK KR" pitchFamily="34" charset="0"/>
                <a:ea typeface="Noto Sans CJK KR" pitchFamily="34" charset="-122"/>
                <a:cs typeface="Noto Sans CJK KR" pitchFamily="34" charset="-120"/>
              </a:rPr>
              <a:t>자산·위협별 결과 조회</a:t>
            </a:r>
            <a:endParaRPr lang="en-US" sz="1250" dirty="0"/>
          </a:p>
        </p:txBody>
      </p:sp>
      <p:sp>
        <p:nvSpPr>
          <p:cNvPr id="17" name="Text 15"/>
          <p:cNvSpPr txBox="1"/>
          <p:nvPr/>
        </p:nvSpPr>
        <p:spPr>
          <a:xfrm>
            <a:off x="5047488" y="2971800"/>
            <a:ext cx="292608" cy="493776"/>
          </a:xfrm>
          <a:prstGeom prst="rect">
            <a:avLst/>
          </a:prstGeom>
          <a:noFill/>
          <a:ln/>
        </p:spPr>
        <p:txBody>
          <a:bodyPr wrap="square" lIns="0" tIns="0" rIns="0" bIns="0" rtlCol="0" anchor="ctr">
            <a:normAutofit/>
          </a:bodyPr>
          <a:lstStyle/>
          <a:p>
            <a:pPr algn="ctr" indent="0" marL="0">
              <a:buNone/>
            </a:pPr>
            <a:r>
              <a:rPr lang="en-US" sz="2600" b="1" dirty="0">
                <a:solidFill>
                  <a:srgbClr val="0C8A91"/>
                </a:solidFill>
                <a:latin typeface="Noto Sans CJK KR" pitchFamily="34" charset="0"/>
                <a:ea typeface="Noto Sans CJK KR" pitchFamily="34" charset="-122"/>
                <a:cs typeface="Noto Sans CJK KR" pitchFamily="34" charset="-120"/>
              </a:rPr>
              <a:t>›</a:t>
            </a:r>
            <a:endParaRPr lang="en-US" sz="2600" dirty="0"/>
          </a:p>
        </p:txBody>
      </p:sp>
      <p:sp>
        <p:nvSpPr>
          <p:cNvPr id="18" name="Shape 16"/>
          <p:cNvSpPr/>
          <p:nvPr/>
        </p:nvSpPr>
        <p:spPr>
          <a:xfrm>
            <a:off x="5303520" y="2212848"/>
            <a:ext cx="2176272" cy="1947672"/>
          </a:xfrm>
          <a:prstGeom prst="roundRect">
            <a:avLst>
              <a:gd name="adj" fmla="val 7042"/>
            </a:avLst>
          </a:prstGeom>
          <a:solidFill>
            <a:srgbClr val="FFFFFF"/>
          </a:solidFill>
          <a:ln w="12700">
            <a:solidFill>
              <a:srgbClr val="D7E2E9"/>
            </a:solidFill>
            <a:prstDash val="solid"/>
          </a:ln>
        </p:spPr>
      </p:sp>
      <p:sp>
        <p:nvSpPr>
          <p:cNvPr id="19" name="Shape 17"/>
          <p:cNvSpPr/>
          <p:nvPr/>
        </p:nvSpPr>
        <p:spPr>
          <a:xfrm>
            <a:off x="5303520" y="2212848"/>
            <a:ext cx="2176272" cy="91440"/>
          </a:xfrm>
          <a:prstGeom prst="roundRect">
            <a:avLst>
              <a:gd name="adj" fmla="val 150000"/>
            </a:avLst>
          </a:prstGeom>
          <a:solidFill>
            <a:srgbClr val="195C81"/>
          </a:solidFill>
          <a:ln w="12700">
            <a:solidFill>
              <a:srgbClr val="195C81">
                <a:alpha val="0"/>
              </a:srgbClr>
            </a:solidFill>
            <a:prstDash val="solid"/>
          </a:ln>
        </p:spPr>
      </p:sp>
      <p:sp>
        <p:nvSpPr>
          <p:cNvPr id="20" name="Text 18"/>
          <p:cNvSpPr txBox="1"/>
          <p:nvPr/>
        </p:nvSpPr>
        <p:spPr>
          <a:xfrm>
            <a:off x="5440680" y="2587752"/>
            <a:ext cx="1901952" cy="475488"/>
          </a:xfrm>
          <a:prstGeom prst="rect">
            <a:avLst/>
          </a:prstGeom>
          <a:noFill/>
          <a:ln/>
        </p:spPr>
        <p:txBody>
          <a:bodyPr wrap="square" lIns="0" tIns="0" rIns="0" bIns="0" rtlCol="0" anchor="ctr">
            <a:normAutofit/>
          </a:bodyPr>
          <a:lstStyle/>
          <a:p>
            <a:pPr algn="ctr" indent="0" marL="0">
              <a:buNone/>
            </a:pPr>
            <a:r>
              <a:rPr lang="en-US" sz="1630" b="1" dirty="0">
                <a:solidFill>
                  <a:srgbClr val="173149"/>
                </a:solidFill>
                <a:latin typeface="Noto Sans CJK KR" pitchFamily="34" charset="0"/>
                <a:ea typeface="Noto Sans CJK KR" pitchFamily="34" charset="-122"/>
                <a:cs typeface="Noto Sans CJK KR" pitchFamily="34" charset="-120"/>
              </a:rPr>
              <a:t>사고 조회</a:t>
            </a:r>
            <a:endParaRPr lang="en-US" sz="1630" dirty="0"/>
          </a:p>
        </p:txBody>
      </p:sp>
      <p:sp>
        <p:nvSpPr>
          <p:cNvPr id="21" name="Text 19"/>
          <p:cNvSpPr txBox="1"/>
          <p:nvPr/>
        </p:nvSpPr>
        <p:spPr>
          <a:xfrm>
            <a:off x="5440680" y="3264408"/>
            <a:ext cx="1901952" cy="521208"/>
          </a:xfrm>
          <a:prstGeom prst="rect">
            <a:avLst/>
          </a:prstGeom>
          <a:noFill/>
          <a:ln/>
        </p:spPr>
        <p:txBody>
          <a:bodyPr wrap="square" lIns="0" tIns="0" rIns="0" bIns="0" rtlCol="0" anchor="ctr">
            <a:normAutofit/>
          </a:bodyPr>
          <a:lstStyle/>
          <a:p>
            <a:pPr algn="ctr" indent="0" marL="0">
              <a:buNone/>
            </a:pPr>
            <a:r>
              <a:rPr lang="en-US" sz="1250" dirty="0">
                <a:solidFill>
                  <a:srgbClr val="617586"/>
                </a:solidFill>
                <a:latin typeface="Noto Sans CJK KR" pitchFamily="34" charset="0"/>
                <a:ea typeface="Noto Sans CJK KR" pitchFamily="34" charset="-122"/>
                <a:cs typeface="Noto Sans CJK KR" pitchFamily="34" charset="-120"/>
              </a:rPr>
              <a:t>출처·중복·근거 상태</a:t>
            </a:r>
            <a:endParaRPr lang="en-US" sz="1250" dirty="0"/>
          </a:p>
        </p:txBody>
      </p:sp>
      <p:sp>
        <p:nvSpPr>
          <p:cNvPr id="22" name="Text 20"/>
          <p:cNvSpPr txBox="1"/>
          <p:nvPr/>
        </p:nvSpPr>
        <p:spPr>
          <a:xfrm>
            <a:off x="7370064" y="2971800"/>
            <a:ext cx="292608" cy="493776"/>
          </a:xfrm>
          <a:prstGeom prst="rect">
            <a:avLst/>
          </a:prstGeom>
          <a:noFill/>
          <a:ln/>
        </p:spPr>
        <p:txBody>
          <a:bodyPr wrap="square" lIns="0" tIns="0" rIns="0" bIns="0" rtlCol="0" anchor="ctr">
            <a:normAutofit/>
          </a:bodyPr>
          <a:lstStyle/>
          <a:p>
            <a:pPr algn="ctr" indent="0" marL="0">
              <a:buNone/>
            </a:pPr>
            <a:r>
              <a:rPr lang="en-US" sz="2600" b="1" dirty="0">
                <a:solidFill>
                  <a:srgbClr val="0C8A91"/>
                </a:solidFill>
                <a:latin typeface="Noto Sans CJK KR" pitchFamily="34" charset="0"/>
                <a:ea typeface="Noto Sans CJK KR" pitchFamily="34" charset="-122"/>
                <a:cs typeface="Noto Sans CJK KR" pitchFamily="34" charset="-120"/>
              </a:rPr>
              <a:t>›</a:t>
            </a:r>
            <a:endParaRPr lang="en-US" sz="2600" dirty="0"/>
          </a:p>
        </p:txBody>
      </p:sp>
      <p:sp>
        <p:nvSpPr>
          <p:cNvPr id="23" name="Shape 21"/>
          <p:cNvSpPr/>
          <p:nvPr/>
        </p:nvSpPr>
        <p:spPr>
          <a:xfrm>
            <a:off x="7626096" y="2212848"/>
            <a:ext cx="2176272" cy="1947672"/>
          </a:xfrm>
          <a:prstGeom prst="roundRect">
            <a:avLst>
              <a:gd name="adj" fmla="val 7042"/>
            </a:avLst>
          </a:prstGeom>
          <a:solidFill>
            <a:srgbClr val="FFFFFF"/>
          </a:solidFill>
          <a:ln w="12700">
            <a:solidFill>
              <a:srgbClr val="D7E2E9"/>
            </a:solidFill>
            <a:prstDash val="solid"/>
          </a:ln>
        </p:spPr>
      </p:sp>
      <p:sp>
        <p:nvSpPr>
          <p:cNvPr id="24" name="Shape 22"/>
          <p:cNvSpPr/>
          <p:nvPr/>
        </p:nvSpPr>
        <p:spPr>
          <a:xfrm>
            <a:off x="7626096" y="2212848"/>
            <a:ext cx="2176272" cy="91440"/>
          </a:xfrm>
          <a:prstGeom prst="roundRect">
            <a:avLst>
              <a:gd name="adj" fmla="val 150000"/>
            </a:avLst>
          </a:prstGeom>
          <a:solidFill>
            <a:srgbClr val="B76A19"/>
          </a:solidFill>
          <a:ln w="12700">
            <a:solidFill>
              <a:srgbClr val="B76A19">
                <a:alpha val="0"/>
              </a:srgbClr>
            </a:solidFill>
            <a:prstDash val="solid"/>
          </a:ln>
        </p:spPr>
      </p:sp>
      <p:sp>
        <p:nvSpPr>
          <p:cNvPr id="25" name="Text 23"/>
          <p:cNvSpPr txBox="1"/>
          <p:nvPr/>
        </p:nvSpPr>
        <p:spPr>
          <a:xfrm>
            <a:off x="7763256" y="2587752"/>
            <a:ext cx="1901952" cy="475488"/>
          </a:xfrm>
          <a:prstGeom prst="rect">
            <a:avLst/>
          </a:prstGeom>
          <a:noFill/>
          <a:ln/>
        </p:spPr>
        <p:txBody>
          <a:bodyPr wrap="square" lIns="0" tIns="0" rIns="0" bIns="0" rtlCol="0" anchor="ctr">
            <a:normAutofit/>
          </a:bodyPr>
          <a:lstStyle/>
          <a:p>
            <a:pPr algn="ctr" indent="0" marL="0">
              <a:buNone/>
            </a:pPr>
            <a:r>
              <a:rPr lang="en-US" sz="1630" b="1" dirty="0">
                <a:solidFill>
                  <a:srgbClr val="173149"/>
                </a:solidFill>
                <a:latin typeface="Noto Sans CJK KR" pitchFamily="34" charset="0"/>
                <a:ea typeface="Noto Sans CJK KR" pitchFamily="34" charset="-122"/>
                <a:cs typeface="Noto Sans CJK KR" pitchFamily="34" charset="-120"/>
              </a:rPr>
              <a:t>해기사 카드</a:t>
            </a:r>
            <a:endParaRPr lang="en-US" sz="1630" dirty="0"/>
          </a:p>
        </p:txBody>
      </p:sp>
      <p:sp>
        <p:nvSpPr>
          <p:cNvPr id="26" name="Text 24"/>
          <p:cNvSpPr txBox="1"/>
          <p:nvPr/>
        </p:nvSpPr>
        <p:spPr>
          <a:xfrm>
            <a:off x="7763256" y="3264408"/>
            <a:ext cx="1901952" cy="521208"/>
          </a:xfrm>
          <a:prstGeom prst="rect">
            <a:avLst/>
          </a:prstGeom>
          <a:noFill/>
          <a:ln/>
        </p:spPr>
        <p:txBody>
          <a:bodyPr wrap="square" lIns="0" tIns="0" rIns="0" bIns="0" rtlCol="0" anchor="ctr">
            <a:normAutofit/>
          </a:bodyPr>
          <a:lstStyle/>
          <a:p>
            <a:pPr algn="ctr" indent="0" marL="0">
              <a:buNone/>
            </a:pPr>
            <a:r>
              <a:rPr lang="en-US" sz="1250" dirty="0">
                <a:solidFill>
                  <a:srgbClr val="617586"/>
                </a:solidFill>
                <a:latin typeface="Noto Sans CJK KR" pitchFamily="34" charset="0"/>
                <a:ea typeface="Noto Sans CJK KR" pitchFamily="34" charset="-122"/>
                <a:cs typeface="Noto Sans CJK KR" pitchFamily="34" charset="-120"/>
              </a:rPr>
              <a:t>징후·역할·기록</a:t>
            </a:r>
            <a:endParaRPr lang="en-US" sz="1250" dirty="0"/>
          </a:p>
        </p:txBody>
      </p:sp>
      <p:sp>
        <p:nvSpPr>
          <p:cNvPr id="27" name="Text 25"/>
          <p:cNvSpPr txBox="1"/>
          <p:nvPr/>
        </p:nvSpPr>
        <p:spPr>
          <a:xfrm>
            <a:off x="9692640" y="2971800"/>
            <a:ext cx="292608" cy="493776"/>
          </a:xfrm>
          <a:prstGeom prst="rect">
            <a:avLst/>
          </a:prstGeom>
          <a:noFill/>
          <a:ln/>
        </p:spPr>
        <p:txBody>
          <a:bodyPr wrap="square" lIns="0" tIns="0" rIns="0" bIns="0" rtlCol="0" anchor="ctr">
            <a:normAutofit/>
          </a:bodyPr>
          <a:lstStyle/>
          <a:p>
            <a:pPr algn="ctr" indent="0" marL="0">
              <a:buNone/>
            </a:pPr>
            <a:r>
              <a:rPr lang="en-US" sz="2600" b="1" dirty="0">
                <a:solidFill>
                  <a:srgbClr val="0C8A91"/>
                </a:solidFill>
                <a:latin typeface="Noto Sans CJK KR" pitchFamily="34" charset="0"/>
                <a:ea typeface="Noto Sans CJK KR" pitchFamily="34" charset="-122"/>
                <a:cs typeface="Noto Sans CJK KR" pitchFamily="34" charset="-120"/>
              </a:rPr>
              <a:t>›</a:t>
            </a:r>
            <a:endParaRPr lang="en-US" sz="2600" dirty="0"/>
          </a:p>
        </p:txBody>
      </p:sp>
      <p:sp>
        <p:nvSpPr>
          <p:cNvPr id="28" name="Shape 26"/>
          <p:cNvSpPr/>
          <p:nvPr/>
        </p:nvSpPr>
        <p:spPr>
          <a:xfrm>
            <a:off x="9948672" y="2212848"/>
            <a:ext cx="2176272" cy="1947672"/>
          </a:xfrm>
          <a:prstGeom prst="roundRect">
            <a:avLst>
              <a:gd name="adj" fmla="val 7042"/>
            </a:avLst>
          </a:prstGeom>
          <a:solidFill>
            <a:srgbClr val="FFFFFF"/>
          </a:solidFill>
          <a:ln w="12700">
            <a:solidFill>
              <a:srgbClr val="D7E2E9"/>
            </a:solidFill>
            <a:prstDash val="solid"/>
          </a:ln>
        </p:spPr>
      </p:sp>
      <p:sp>
        <p:nvSpPr>
          <p:cNvPr id="29" name="Shape 27"/>
          <p:cNvSpPr/>
          <p:nvPr/>
        </p:nvSpPr>
        <p:spPr>
          <a:xfrm>
            <a:off x="9948672" y="2212848"/>
            <a:ext cx="2176272" cy="91440"/>
          </a:xfrm>
          <a:prstGeom prst="roundRect">
            <a:avLst>
              <a:gd name="adj" fmla="val 150000"/>
            </a:avLst>
          </a:prstGeom>
          <a:solidFill>
            <a:srgbClr val="195C81"/>
          </a:solidFill>
          <a:ln w="12700">
            <a:solidFill>
              <a:srgbClr val="195C81">
                <a:alpha val="0"/>
              </a:srgbClr>
            </a:solidFill>
            <a:prstDash val="solid"/>
          </a:ln>
        </p:spPr>
      </p:sp>
      <p:sp>
        <p:nvSpPr>
          <p:cNvPr id="30" name="Text 28"/>
          <p:cNvSpPr txBox="1"/>
          <p:nvPr/>
        </p:nvSpPr>
        <p:spPr>
          <a:xfrm>
            <a:off x="10085832" y="2587752"/>
            <a:ext cx="1901952" cy="475488"/>
          </a:xfrm>
          <a:prstGeom prst="rect">
            <a:avLst/>
          </a:prstGeom>
          <a:noFill/>
          <a:ln/>
        </p:spPr>
        <p:txBody>
          <a:bodyPr wrap="square" lIns="0" tIns="0" rIns="0" bIns="0" rtlCol="0" anchor="ctr">
            <a:normAutofit/>
          </a:bodyPr>
          <a:lstStyle/>
          <a:p>
            <a:pPr algn="ctr" indent="0" marL="0">
              <a:buNone/>
            </a:pPr>
            <a:r>
              <a:rPr lang="en-US" sz="1630" b="1" dirty="0">
                <a:solidFill>
                  <a:srgbClr val="173149"/>
                </a:solidFill>
                <a:latin typeface="Noto Sans CJK KR" pitchFamily="34" charset="0"/>
                <a:ea typeface="Noto Sans CJK KR" pitchFamily="34" charset="-122"/>
                <a:cs typeface="Noto Sans CJK KR" pitchFamily="34" charset="-120"/>
              </a:rPr>
              <a:t>규제·지침</a:t>
            </a:r>
            <a:endParaRPr lang="en-US" sz="1630" dirty="0"/>
          </a:p>
        </p:txBody>
      </p:sp>
      <p:sp>
        <p:nvSpPr>
          <p:cNvPr id="31" name="Text 29"/>
          <p:cNvSpPr txBox="1"/>
          <p:nvPr/>
        </p:nvSpPr>
        <p:spPr>
          <a:xfrm>
            <a:off x="10085832" y="3264408"/>
            <a:ext cx="1901952" cy="521208"/>
          </a:xfrm>
          <a:prstGeom prst="rect">
            <a:avLst/>
          </a:prstGeom>
          <a:noFill/>
          <a:ln/>
        </p:spPr>
        <p:txBody>
          <a:bodyPr wrap="square" lIns="0" tIns="0" rIns="0" bIns="0" rtlCol="0" anchor="ctr">
            <a:normAutofit/>
          </a:bodyPr>
          <a:lstStyle/>
          <a:p>
            <a:pPr algn="ctr" indent="0" marL="0">
              <a:buNone/>
            </a:pPr>
            <a:r>
              <a:rPr lang="en-US" sz="1250" dirty="0">
                <a:solidFill>
                  <a:srgbClr val="617586"/>
                </a:solidFill>
                <a:latin typeface="Noto Sans CJK KR" pitchFamily="34" charset="0"/>
                <a:ea typeface="Noto Sans CJK KR" pitchFamily="34" charset="-122"/>
                <a:cs typeface="Noto Sans CJK KR" pitchFamily="34" charset="-120"/>
              </a:rPr>
              <a:t>문서명·조항·적용 조건</a:t>
            </a:r>
            <a:endParaRPr lang="en-US" sz="1250" dirty="0"/>
          </a:p>
        </p:txBody>
      </p:sp>
      <p:sp>
        <p:nvSpPr>
          <p:cNvPr id="32" name="Shape 30"/>
          <p:cNvSpPr/>
          <p:nvPr/>
        </p:nvSpPr>
        <p:spPr>
          <a:xfrm>
            <a:off x="667512" y="4690872"/>
            <a:ext cx="10863072" cy="932688"/>
          </a:xfrm>
          <a:prstGeom prst="roundRect">
            <a:avLst>
              <a:gd name="adj" fmla="val 14706"/>
            </a:avLst>
          </a:prstGeom>
          <a:solidFill>
            <a:srgbClr val="112A3F"/>
          </a:solidFill>
          <a:ln w="12700">
            <a:solidFill>
              <a:srgbClr val="112A3F">
                <a:alpha val="0"/>
              </a:srgbClr>
            </a:solidFill>
            <a:prstDash val="solid"/>
          </a:ln>
        </p:spPr>
      </p:sp>
      <p:sp>
        <p:nvSpPr>
          <p:cNvPr id="33" name="Text 31"/>
          <p:cNvSpPr txBox="1"/>
          <p:nvPr/>
        </p:nvSpPr>
        <p:spPr>
          <a:xfrm>
            <a:off x="1005840" y="4956048"/>
            <a:ext cx="10076688" cy="384048"/>
          </a:xfrm>
          <a:prstGeom prst="rect">
            <a:avLst/>
          </a:prstGeom>
          <a:noFill/>
          <a:ln/>
        </p:spPr>
        <p:txBody>
          <a:bodyPr wrap="square" lIns="0" tIns="0" rIns="0" bIns="0" rtlCol="0" anchor="ctr">
            <a:normAutofit/>
          </a:bodyPr>
          <a:lstStyle/>
          <a:p>
            <a:pPr algn="l" indent="0" marL="0">
              <a:buNone/>
            </a:pPr>
            <a:r>
              <a:rPr lang="en-US" sz="1730" b="1" dirty="0">
                <a:solidFill>
                  <a:srgbClr val="FFFFFF"/>
                </a:solidFill>
                <a:latin typeface="Noto Sans CJK KR" pitchFamily="34" charset="0"/>
                <a:ea typeface="Noto Sans CJK KR" pitchFamily="34" charset="-122"/>
                <a:cs typeface="Noto Sans CJK KR" pitchFamily="34" charset="-120"/>
              </a:rPr>
              <a:t>실제 시연 경로  |  사고 목록 → USCG 2019 → 근거 표시 → 탁상훈련 → 관련 지침</a:t>
            </a:r>
            <a:endParaRPr lang="en-US" sz="17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TABLETOP EXERCISE</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실제 사고를 참고한 교육용 탁상훈련</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시나리오 설계 참고: USCG 06-19 / NIST SP 800-84; 선택 결과는 학습 피드백, 효과 검증 아님</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09</a:t>
            </a:r>
            <a:endParaRPr lang="en-US" sz="1000" dirty="0"/>
          </a:p>
        </p:txBody>
      </p:sp>
      <p:sp>
        <p:nvSpPr>
          <p:cNvPr id="8" name="Shape 6"/>
          <p:cNvSpPr/>
          <p:nvPr/>
        </p:nvSpPr>
        <p:spPr>
          <a:xfrm>
            <a:off x="795528" y="2011680"/>
            <a:ext cx="3346704" cy="2313432"/>
          </a:xfrm>
          <a:prstGeom prst="roundRect">
            <a:avLst>
              <a:gd name="adj" fmla="val 5929"/>
            </a:avLst>
          </a:prstGeom>
          <a:solidFill>
            <a:srgbClr val="FFFFFF"/>
          </a:solidFill>
          <a:ln w="12700">
            <a:solidFill>
              <a:srgbClr val="D7E2E9"/>
            </a:solidFill>
            <a:prstDash val="solid"/>
          </a:ln>
        </p:spPr>
      </p:sp>
      <p:sp>
        <p:nvSpPr>
          <p:cNvPr id="9" name="Shape 7"/>
          <p:cNvSpPr/>
          <p:nvPr/>
        </p:nvSpPr>
        <p:spPr>
          <a:xfrm>
            <a:off x="960120" y="2231136"/>
            <a:ext cx="1069848" cy="292608"/>
          </a:xfrm>
          <a:prstGeom prst="roundRect">
            <a:avLst>
              <a:gd name="adj" fmla="val 46875"/>
            </a:avLst>
          </a:prstGeom>
          <a:solidFill>
            <a:srgbClr val="195C81"/>
          </a:solidFill>
          <a:ln w="12700">
            <a:solidFill>
              <a:srgbClr val="195C81">
                <a:alpha val="0"/>
              </a:srgbClr>
            </a:solidFill>
            <a:prstDash val="solid"/>
          </a:ln>
        </p:spPr>
      </p:sp>
      <p:sp>
        <p:nvSpPr>
          <p:cNvPr id="10" name="Text 8"/>
          <p:cNvSpPr txBox="1"/>
          <p:nvPr/>
        </p:nvSpPr>
        <p:spPr>
          <a:xfrm>
            <a:off x="1042416" y="2235708"/>
            <a:ext cx="905256" cy="27432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Noto Sans CJK KR" pitchFamily="34" charset="0"/>
                <a:ea typeface="Noto Sans CJK KR" pitchFamily="34" charset="-122"/>
                <a:cs typeface="Noto Sans CJK KR" pitchFamily="34" charset="-120"/>
              </a:rPr>
              <a:t>장면 1</a:t>
            </a:r>
            <a:endParaRPr lang="en-US" sz="950" dirty="0"/>
          </a:p>
        </p:txBody>
      </p:sp>
      <p:sp>
        <p:nvSpPr>
          <p:cNvPr id="11" name="Text 9"/>
          <p:cNvSpPr txBox="1"/>
          <p:nvPr/>
        </p:nvSpPr>
        <p:spPr>
          <a:xfrm>
            <a:off x="978408" y="2761488"/>
            <a:ext cx="2926080" cy="457200"/>
          </a:xfrm>
          <a:prstGeom prst="rect">
            <a:avLst/>
          </a:prstGeom>
          <a:noFill/>
          <a:ln/>
        </p:spPr>
        <p:txBody>
          <a:bodyPr wrap="square" lIns="0" tIns="0" rIns="0" bIns="0" rtlCol="0" anchor="ctr">
            <a:normAutofit/>
          </a:bodyPr>
          <a:lstStyle/>
          <a:p>
            <a:pPr algn="l" indent="0" marL="0">
              <a:buNone/>
            </a:pPr>
            <a:r>
              <a:rPr lang="en-US" sz="1950" b="1" dirty="0">
                <a:solidFill>
                  <a:srgbClr val="173149"/>
                </a:solidFill>
                <a:latin typeface="Noto Sans CJK KR" pitchFamily="34" charset="0"/>
                <a:ea typeface="Noto Sans CJK KR" pitchFamily="34" charset="-122"/>
                <a:cs typeface="Noto Sans CJK KR" pitchFamily="34" charset="-120"/>
              </a:rPr>
              <a:t>이상 PC 발견</a:t>
            </a:r>
            <a:endParaRPr lang="en-US" sz="1950" dirty="0"/>
          </a:p>
        </p:txBody>
      </p:sp>
      <p:sp>
        <p:nvSpPr>
          <p:cNvPr id="12" name="Text 10"/>
          <p:cNvSpPr txBox="1"/>
          <p:nvPr/>
        </p:nvSpPr>
        <p:spPr>
          <a:xfrm>
            <a:off x="978408" y="3383280"/>
            <a:ext cx="2880360" cy="612648"/>
          </a:xfrm>
          <a:prstGeom prst="rect">
            <a:avLst/>
          </a:prstGeom>
          <a:noFill/>
          <a:ln/>
        </p:spPr>
        <p:txBody>
          <a:bodyPr wrap="square" lIns="0" tIns="0" rIns="0" bIns="0" rtlCol="0" anchor="ctr">
            <a:normAutofit/>
          </a:bodyPr>
          <a:lstStyle/>
          <a:p>
            <a:pPr algn="l" indent="0" marL="0">
              <a:buNone/>
            </a:pPr>
            <a:r>
              <a:rPr lang="en-US" sz="1450" dirty="0">
                <a:solidFill>
                  <a:srgbClr val="617586"/>
                </a:solidFill>
                <a:latin typeface="Noto Sans CJK KR" pitchFamily="34" charset="0"/>
                <a:ea typeface="Noto Sans CJK KR" pitchFamily="34" charset="-122"/>
                <a:cs typeface="Noto Sans CJK KR" pitchFamily="34" charset="-120"/>
              </a:rPr>
              <a:t>사용 중단·기록·보고 여부 판단</a:t>
            </a:r>
            <a:endParaRPr lang="en-US" sz="1450" dirty="0"/>
          </a:p>
        </p:txBody>
      </p:sp>
      <p:sp>
        <p:nvSpPr>
          <p:cNvPr id="13" name="Shape 11"/>
          <p:cNvSpPr/>
          <p:nvPr/>
        </p:nvSpPr>
        <p:spPr>
          <a:xfrm>
            <a:off x="4562856" y="2011680"/>
            <a:ext cx="3346704" cy="2313432"/>
          </a:xfrm>
          <a:prstGeom prst="roundRect">
            <a:avLst>
              <a:gd name="adj" fmla="val 5929"/>
            </a:avLst>
          </a:prstGeom>
          <a:solidFill>
            <a:srgbClr val="FFFFFF"/>
          </a:solidFill>
          <a:ln w="12700">
            <a:solidFill>
              <a:srgbClr val="D7E2E9"/>
            </a:solidFill>
            <a:prstDash val="solid"/>
          </a:ln>
        </p:spPr>
      </p:sp>
      <p:sp>
        <p:nvSpPr>
          <p:cNvPr id="14" name="Shape 12"/>
          <p:cNvSpPr/>
          <p:nvPr/>
        </p:nvSpPr>
        <p:spPr>
          <a:xfrm>
            <a:off x="4727448" y="2231136"/>
            <a:ext cx="1069848" cy="292608"/>
          </a:xfrm>
          <a:prstGeom prst="roundRect">
            <a:avLst>
              <a:gd name="adj" fmla="val 46875"/>
            </a:avLst>
          </a:prstGeom>
          <a:solidFill>
            <a:srgbClr val="0C8A91"/>
          </a:solidFill>
          <a:ln w="12700">
            <a:solidFill>
              <a:srgbClr val="0C8A91">
                <a:alpha val="0"/>
              </a:srgbClr>
            </a:solidFill>
            <a:prstDash val="solid"/>
          </a:ln>
        </p:spPr>
      </p:sp>
      <p:sp>
        <p:nvSpPr>
          <p:cNvPr id="15" name="Text 13"/>
          <p:cNvSpPr txBox="1"/>
          <p:nvPr/>
        </p:nvSpPr>
        <p:spPr>
          <a:xfrm>
            <a:off x="4809744" y="2235708"/>
            <a:ext cx="905256" cy="27432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Noto Sans CJK KR" pitchFamily="34" charset="0"/>
                <a:ea typeface="Noto Sans CJK KR" pitchFamily="34" charset="-122"/>
                <a:cs typeface="Noto Sans CJK KR" pitchFamily="34" charset="-120"/>
              </a:rPr>
              <a:t>장면 2</a:t>
            </a:r>
            <a:endParaRPr lang="en-US" sz="950" dirty="0"/>
          </a:p>
        </p:txBody>
      </p:sp>
      <p:sp>
        <p:nvSpPr>
          <p:cNvPr id="16" name="Text 14"/>
          <p:cNvSpPr txBox="1"/>
          <p:nvPr/>
        </p:nvSpPr>
        <p:spPr>
          <a:xfrm>
            <a:off x="4745736" y="2761488"/>
            <a:ext cx="2926080" cy="457200"/>
          </a:xfrm>
          <a:prstGeom prst="rect">
            <a:avLst/>
          </a:prstGeom>
          <a:noFill/>
          <a:ln/>
        </p:spPr>
        <p:txBody>
          <a:bodyPr wrap="square" lIns="0" tIns="0" rIns="0" bIns="0" rtlCol="0" anchor="ctr">
            <a:normAutofit/>
          </a:bodyPr>
          <a:lstStyle/>
          <a:p>
            <a:pPr algn="l" indent="0" marL="0">
              <a:buNone/>
            </a:pPr>
            <a:r>
              <a:rPr lang="en-US" sz="1950" b="1" dirty="0">
                <a:solidFill>
                  <a:srgbClr val="173149"/>
                </a:solidFill>
                <a:latin typeface="Noto Sans CJK KR" pitchFamily="34" charset="0"/>
                <a:ea typeface="Noto Sans CJK KR" pitchFamily="34" charset="-122"/>
                <a:cs typeface="Noto Sans CJK KR" pitchFamily="34" charset="-120"/>
              </a:rPr>
              <a:t>영향 범위 확인</a:t>
            </a:r>
            <a:endParaRPr lang="en-US" sz="1950" dirty="0"/>
          </a:p>
        </p:txBody>
      </p:sp>
      <p:sp>
        <p:nvSpPr>
          <p:cNvPr id="17" name="Text 15"/>
          <p:cNvSpPr txBox="1"/>
          <p:nvPr/>
        </p:nvSpPr>
        <p:spPr>
          <a:xfrm>
            <a:off x="4745736" y="3383280"/>
            <a:ext cx="2880360" cy="612648"/>
          </a:xfrm>
          <a:prstGeom prst="rect">
            <a:avLst/>
          </a:prstGeom>
          <a:noFill/>
          <a:ln/>
        </p:spPr>
        <p:txBody>
          <a:bodyPr wrap="square" lIns="0" tIns="0" rIns="0" bIns="0" rtlCol="0" anchor="ctr">
            <a:normAutofit/>
          </a:bodyPr>
          <a:lstStyle/>
          <a:p>
            <a:pPr algn="l" indent="0" marL="0">
              <a:buNone/>
            </a:pPr>
            <a:r>
              <a:rPr lang="en-US" sz="1450" dirty="0">
                <a:solidFill>
                  <a:srgbClr val="617586"/>
                </a:solidFill>
                <a:latin typeface="Noto Sans CJK KR" pitchFamily="34" charset="0"/>
                <a:ea typeface="Noto Sans CJK KR" pitchFamily="34" charset="-122"/>
                <a:cs typeface="Noto Sans CJK KR" pitchFamily="34" charset="-120"/>
              </a:rPr>
              <a:t>안전 필수 설비·망 구성 점검</a:t>
            </a:r>
            <a:endParaRPr lang="en-US" sz="1450" dirty="0"/>
          </a:p>
        </p:txBody>
      </p:sp>
      <p:sp>
        <p:nvSpPr>
          <p:cNvPr id="18" name="Shape 16"/>
          <p:cNvSpPr/>
          <p:nvPr/>
        </p:nvSpPr>
        <p:spPr>
          <a:xfrm>
            <a:off x="8330184" y="2011680"/>
            <a:ext cx="3346704" cy="2313432"/>
          </a:xfrm>
          <a:prstGeom prst="roundRect">
            <a:avLst>
              <a:gd name="adj" fmla="val 5929"/>
            </a:avLst>
          </a:prstGeom>
          <a:solidFill>
            <a:srgbClr val="FFFFFF"/>
          </a:solidFill>
          <a:ln w="12700">
            <a:solidFill>
              <a:srgbClr val="D7E2E9"/>
            </a:solidFill>
            <a:prstDash val="solid"/>
          </a:ln>
        </p:spPr>
      </p:sp>
      <p:sp>
        <p:nvSpPr>
          <p:cNvPr id="19" name="Shape 17"/>
          <p:cNvSpPr/>
          <p:nvPr/>
        </p:nvSpPr>
        <p:spPr>
          <a:xfrm>
            <a:off x="8494776" y="2231136"/>
            <a:ext cx="1069848" cy="292608"/>
          </a:xfrm>
          <a:prstGeom prst="roundRect">
            <a:avLst>
              <a:gd name="adj" fmla="val 46875"/>
            </a:avLst>
          </a:prstGeom>
          <a:solidFill>
            <a:srgbClr val="B76A19"/>
          </a:solidFill>
          <a:ln w="12700">
            <a:solidFill>
              <a:srgbClr val="B76A19">
                <a:alpha val="0"/>
              </a:srgbClr>
            </a:solidFill>
            <a:prstDash val="solid"/>
          </a:ln>
        </p:spPr>
      </p:sp>
      <p:sp>
        <p:nvSpPr>
          <p:cNvPr id="20" name="Text 18"/>
          <p:cNvSpPr txBox="1"/>
          <p:nvPr/>
        </p:nvSpPr>
        <p:spPr>
          <a:xfrm>
            <a:off x="8577072" y="2235708"/>
            <a:ext cx="905256" cy="274320"/>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Noto Sans CJK KR" pitchFamily="34" charset="0"/>
                <a:ea typeface="Noto Sans CJK KR" pitchFamily="34" charset="-122"/>
                <a:cs typeface="Noto Sans CJK KR" pitchFamily="34" charset="-120"/>
              </a:rPr>
              <a:t>장면 3</a:t>
            </a:r>
            <a:endParaRPr lang="en-US" sz="950" dirty="0"/>
          </a:p>
        </p:txBody>
      </p:sp>
      <p:sp>
        <p:nvSpPr>
          <p:cNvPr id="21" name="Text 19"/>
          <p:cNvSpPr txBox="1"/>
          <p:nvPr/>
        </p:nvSpPr>
        <p:spPr>
          <a:xfrm>
            <a:off x="8513064" y="2761488"/>
            <a:ext cx="2926080" cy="457200"/>
          </a:xfrm>
          <a:prstGeom prst="rect">
            <a:avLst/>
          </a:prstGeom>
          <a:noFill/>
          <a:ln/>
        </p:spPr>
        <p:txBody>
          <a:bodyPr wrap="square" lIns="0" tIns="0" rIns="0" bIns="0" rtlCol="0" anchor="ctr">
            <a:normAutofit/>
          </a:bodyPr>
          <a:lstStyle/>
          <a:p>
            <a:pPr algn="l" indent="0" marL="0">
              <a:buNone/>
            </a:pPr>
            <a:r>
              <a:rPr lang="en-US" sz="1950" b="1" dirty="0">
                <a:solidFill>
                  <a:srgbClr val="173149"/>
                </a:solidFill>
                <a:latin typeface="Noto Sans CJK KR" pitchFamily="34" charset="0"/>
                <a:ea typeface="Noto Sans CJK KR" pitchFamily="34" charset="-122"/>
                <a:cs typeface="Noto Sans CJK KR" pitchFamily="34" charset="-120"/>
              </a:rPr>
              <a:t>회사 보고 및 복구</a:t>
            </a:r>
            <a:endParaRPr lang="en-US" sz="1950" dirty="0"/>
          </a:p>
        </p:txBody>
      </p:sp>
      <p:sp>
        <p:nvSpPr>
          <p:cNvPr id="22" name="Text 20"/>
          <p:cNvSpPr txBox="1"/>
          <p:nvPr/>
        </p:nvSpPr>
        <p:spPr>
          <a:xfrm>
            <a:off x="8513064" y="3383280"/>
            <a:ext cx="2880360" cy="612648"/>
          </a:xfrm>
          <a:prstGeom prst="rect">
            <a:avLst/>
          </a:prstGeom>
          <a:noFill/>
          <a:ln/>
        </p:spPr>
        <p:txBody>
          <a:bodyPr wrap="square" lIns="0" tIns="0" rIns="0" bIns="0" rtlCol="0" anchor="ctr">
            <a:normAutofit/>
          </a:bodyPr>
          <a:lstStyle/>
          <a:p>
            <a:pPr algn="l" indent="0" marL="0">
              <a:buNone/>
            </a:pPr>
            <a:r>
              <a:rPr lang="en-US" sz="1450" dirty="0">
                <a:solidFill>
                  <a:srgbClr val="617586"/>
                </a:solidFill>
                <a:latin typeface="Noto Sans CJK KR" pitchFamily="34" charset="0"/>
                <a:ea typeface="Noto Sans CJK KR" pitchFamily="34" charset="-122"/>
                <a:cs typeface="Noto Sans CJK KR" pitchFamily="34" charset="-120"/>
              </a:rPr>
              <a:t>기록·보고·안전한 조치 협의</a:t>
            </a:r>
            <a:endParaRPr lang="en-US" sz="1450" dirty="0"/>
          </a:p>
        </p:txBody>
      </p:sp>
      <p:sp>
        <p:nvSpPr>
          <p:cNvPr id="23" name="Shape 21"/>
          <p:cNvSpPr/>
          <p:nvPr/>
        </p:nvSpPr>
        <p:spPr>
          <a:xfrm>
            <a:off x="822960" y="4709160"/>
            <a:ext cx="10524744" cy="905256"/>
          </a:xfrm>
          <a:prstGeom prst="roundRect">
            <a:avLst>
              <a:gd name="adj" fmla="val 15152"/>
            </a:avLst>
          </a:prstGeom>
          <a:solidFill>
            <a:srgbClr val="E6F2F5"/>
          </a:solidFill>
          <a:ln w="12700">
            <a:solidFill>
              <a:srgbClr val="E6F2F5">
                <a:alpha val="0"/>
              </a:srgbClr>
            </a:solidFill>
            <a:prstDash val="solid"/>
          </a:ln>
        </p:spPr>
      </p:sp>
      <p:sp>
        <p:nvSpPr>
          <p:cNvPr id="24" name="Text 22"/>
          <p:cNvSpPr txBox="1"/>
          <p:nvPr/>
        </p:nvSpPr>
        <p:spPr>
          <a:xfrm>
            <a:off x="1051560" y="4919472"/>
            <a:ext cx="10003536" cy="448056"/>
          </a:xfrm>
          <a:prstGeom prst="rect">
            <a:avLst/>
          </a:prstGeom>
          <a:noFill/>
          <a:ln/>
        </p:spPr>
        <p:txBody>
          <a:bodyPr wrap="square" lIns="0" tIns="0" rIns="0" bIns="0" rtlCol="0" anchor="ctr">
            <a:normAutofit/>
          </a:bodyPr>
          <a:lstStyle/>
          <a:p>
            <a:pPr algn="ctr" indent="0" marL="0">
              <a:buNone/>
            </a:pPr>
            <a:r>
              <a:rPr lang="en-US" sz="2000" b="1" dirty="0">
                <a:solidFill>
                  <a:srgbClr val="112A3F"/>
                </a:solidFill>
                <a:latin typeface="Noto Sans CJK KR" pitchFamily="34" charset="0"/>
                <a:ea typeface="Noto Sans CJK KR" pitchFamily="34" charset="-122"/>
                <a:cs typeface="Noto Sans CJK KR" pitchFamily="34" charset="-120"/>
              </a:rPr>
              <a:t>선택 → 근거 있는 피드백 → 관련 지침 → 예방 체크리스트</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REGULATORY MAPPING</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관련 지침은 적용 수준부터 구별해야 합니다</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출처: IMO Rev.4 · MSC.428(98); IACS UR E26/E27; BIMCO Guidelines v5 (2024)</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10</a:t>
            </a:r>
            <a:endParaRPr lang="en-US" sz="1000" dirty="0"/>
          </a:p>
        </p:txBody>
      </p:sp>
      <p:sp>
        <p:nvSpPr>
          <p:cNvPr id="8" name="Shape 6"/>
          <p:cNvSpPr/>
          <p:nvPr/>
        </p:nvSpPr>
        <p:spPr>
          <a:xfrm>
            <a:off x="795528" y="1755648"/>
            <a:ext cx="10515600" cy="822960"/>
          </a:xfrm>
          <a:prstGeom prst="roundRect">
            <a:avLst>
              <a:gd name="adj" fmla="val 16667"/>
            </a:avLst>
          </a:prstGeom>
          <a:solidFill>
            <a:srgbClr val="FFFFFF"/>
          </a:solidFill>
          <a:ln w="12700">
            <a:solidFill>
              <a:srgbClr val="D7E2E9"/>
            </a:solidFill>
            <a:prstDash val="solid"/>
          </a:ln>
        </p:spPr>
      </p:sp>
      <p:sp>
        <p:nvSpPr>
          <p:cNvPr id="9" name="Text 7"/>
          <p:cNvSpPr txBox="1"/>
          <p:nvPr/>
        </p:nvSpPr>
        <p:spPr>
          <a:xfrm>
            <a:off x="978408" y="1947672"/>
            <a:ext cx="2724912" cy="438912"/>
          </a:xfrm>
          <a:prstGeom prst="rect">
            <a:avLst/>
          </a:prstGeom>
          <a:noFill/>
          <a:ln/>
        </p:spPr>
        <p:txBody>
          <a:bodyPr wrap="square" lIns="0" tIns="0" rIns="0" bIns="0" rtlCol="0" anchor="ctr">
            <a:normAutofit/>
          </a:bodyPr>
          <a:lstStyle/>
          <a:p>
            <a:pPr algn="l" indent="0" marL="0">
              <a:buNone/>
            </a:pPr>
            <a:r>
              <a:rPr lang="en-US" sz="1700" b="1" dirty="0">
                <a:solidFill>
                  <a:srgbClr val="173149"/>
                </a:solidFill>
                <a:latin typeface="Noto Sans CJK KR" pitchFamily="34" charset="0"/>
                <a:ea typeface="Noto Sans CJK KR" pitchFamily="34" charset="-122"/>
                <a:cs typeface="Noto Sans CJK KR" pitchFamily="34" charset="-120"/>
              </a:rPr>
              <a:t>IMO Rev.4</a:t>
            </a:r>
            <a:endParaRPr lang="en-US" sz="1700" dirty="0"/>
          </a:p>
        </p:txBody>
      </p:sp>
      <p:sp>
        <p:nvSpPr>
          <p:cNvPr id="10" name="Text 8"/>
          <p:cNvSpPr txBox="1"/>
          <p:nvPr/>
        </p:nvSpPr>
        <p:spPr>
          <a:xfrm>
            <a:off x="3767328" y="1947672"/>
            <a:ext cx="4151376" cy="438912"/>
          </a:xfrm>
          <a:prstGeom prst="rect">
            <a:avLst/>
          </a:prstGeom>
          <a:noFill/>
          <a:ln/>
        </p:spPr>
        <p:txBody>
          <a:bodyPr wrap="square" lIns="0" tIns="0" rIns="0" bIns="0" rtlCol="0" anchor="ctr">
            <a:normAutofit/>
          </a:bodyPr>
          <a:lstStyle/>
          <a:p>
            <a:pPr algn="l" indent="0" marL="0">
              <a:buNone/>
            </a:pPr>
            <a:r>
              <a:rPr lang="en-US" sz="1520" dirty="0">
                <a:solidFill>
                  <a:srgbClr val="173149"/>
                </a:solidFill>
                <a:latin typeface="Noto Sans CJK KR" pitchFamily="34" charset="0"/>
                <a:ea typeface="Noto Sans CJK KR" pitchFamily="34" charset="-122"/>
                <a:cs typeface="Noto Sans CJK KR" pitchFamily="34" charset="-120"/>
              </a:rPr>
              <a:t>사이버 위험관리의 상위 권고</a:t>
            </a:r>
            <a:endParaRPr lang="en-US" sz="1520" dirty="0"/>
          </a:p>
        </p:txBody>
      </p:sp>
      <p:sp>
        <p:nvSpPr>
          <p:cNvPr id="11" name="Text 9"/>
          <p:cNvSpPr txBox="1"/>
          <p:nvPr/>
        </p:nvSpPr>
        <p:spPr>
          <a:xfrm>
            <a:off x="8339328" y="1947672"/>
            <a:ext cx="2788920" cy="438912"/>
          </a:xfrm>
          <a:prstGeom prst="rect">
            <a:avLst/>
          </a:prstGeom>
          <a:noFill/>
          <a:ln/>
        </p:spPr>
        <p:txBody>
          <a:bodyPr wrap="square" lIns="0" tIns="0" rIns="0" bIns="0" rtlCol="0" anchor="ctr">
            <a:normAutofit/>
          </a:bodyPr>
          <a:lstStyle/>
          <a:p>
            <a:pPr algn="l" indent="0" marL="0">
              <a:buNone/>
            </a:pPr>
            <a:r>
              <a:rPr lang="en-US" sz="1380" dirty="0">
                <a:solidFill>
                  <a:srgbClr val="617586"/>
                </a:solidFill>
                <a:latin typeface="Noto Sans CJK KR" pitchFamily="34" charset="0"/>
                <a:ea typeface="Noto Sans CJK KR" pitchFamily="34" charset="-122"/>
                <a:cs typeface="Noto Sans CJK KR" pitchFamily="34" charset="-120"/>
              </a:rPr>
              <a:t>참고·관리체계</a:t>
            </a:r>
            <a:endParaRPr lang="en-US" sz="1380" dirty="0"/>
          </a:p>
        </p:txBody>
      </p:sp>
      <p:sp>
        <p:nvSpPr>
          <p:cNvPr id="12" name="Shape 10"/>
          <p:cNvSpPr/>
          <p:nvPr/>
        </p:nvSpPr>
        <p:spPr>
          <a:xfrm>
            <a:off x="795528" y="2743200"/>
            <a:ext cx="10515600" cy="822960"/>
          </a:xfrm>
          <a:prstGeom prst="roundRect">
            <a:avLst>
              <a:gd name="adj" fmla="val 16667"/>
            </a:avLst>
          </a:prstGeom>
          <a:solidFill>
            <a:srgbClr val="FFFFFF"/>
          </a:solidFill>
          <a:ln w="12700">
            <a:solidFill>
              <a:srgbClr val="D7E2E9"/>
            </a:solidFill>
            <a:prstDash val="solid"/>
          </a:ln>
        </p:spPr>
      </p:sp>
      <p:sp>
        <p:nvSpPr>
          <p:cNvPr id="13" name="Text 11"/>
          <p:cNvSpPr txBox="1"/>
          <p:nvPr/>
        </p:nvSpPr>
        <p:spPr>
          <a:xfrm>
            <a:off x="978408" y="2935224"/>
            <a:ext cx="2724912" cy="438912"/>
          </a:xfrm>
          <a:prstGeom prst="rect">
            <a:avLst/>
          </a:prstGeom>
          <a:noFill/>
          <a:ln/>
        </p:spPr>
        <p:txBody>
          <a:bodyPr wrap="square" lIns="0" tIns="0" rIns="0" bIns="0" rtlCol="0" anchor="ctr">
            <a:normAutofit/>
          </a:bodyPr>
          <a:lstStyle/>
          <a:p>
            <a:pPr algn="l" indent="0" marL="0">
              <a:buNone/>
            </a:pPr>
            <a:r>
              <a:rPr lang="en-US" sz="1700" b="1" dirty="0">
                <a:solidFill>
                  <a:srgbClr val="173149"/>
                </a:solidFill>
                <a:latin typeface="Noto Sans CJK KR" pitchFamily="34" charset="0"/>
                <a:ea typeface="Noto Sans CJK KR" pitchFamily="34" charset="-122"/>
                <a:cs typeface="Noto Sans CJK KR" pitchFamily="34" charset="-120"/>
              </a:rPr>
              <a:t>IMO MSC.428(98)</a:t>
            </a:r>
            <a:endParaRPr lang="en-US" sz="1700" dirty="0"/>
          </a:p>
        </p:txBody>
      </p:sp>
      <p:sp>
        <p:nvSpPr>
          <p:cNvPr id="14" name="Text 12"/>
          <p:cNvSpPr txBox="1"/>
          <p:nvPr/>
        </p:nvSpPr>
        <p:spPr>
          <a:xfrm>
            <a:off x="3767328" y="2935224"/>
            <a:ext cx="4151376" cy="438912"/>
          </a:xfrm>
          <a:prstGeom prst="rect">
            <a:avLst/>
          </a:prstGeom>
          <a:noFill/>
          <a:ln/>
        </p:spPr>
        <p:txBody>
          <a:bodyPr wrap="square" lIns="0" tIns="0" rIns="0" bIns="0" rtlCol="0" anchor="ctr">
            <a:normAutofit/>
          </a:bodyPr>
          <a:lstStyle/>
          <a:p>
            <a:pPr algn="l" indent="0" marL="0">
              <a:buNone/>
            </a:pPr>
            <a:r>
              <a:rPr lang="en-US" sz="1520" dirty="0">
                <a:solidFill>
                  <a:srgbClr val="173149"/>
                </a:solidFill>
                <a:latin typeface="Noto Sans CJK KR" pitchFamily="34" charset="0"/>
                <a:ea typeface="Noto Sans CJK KR" pitchFamily="34" charset="-122"/>
                <a:cs typeface="Noto Sans CJK KR" pitchFamily="34" charset="-120"/>
              </a:rPr>
              <a:t>SMS와 사이버 위험관리 연계</a:t>
            </a:r>
            <a:endParaRPr lang="en-US" sz="1520" dirty="0"/>
          </a:p>
        </p:txBody>
      </p:sp>
      <p:sp>
        <p:nvSpPr>
          <p:cNvPr id="15" name="Text 13"/>
          <p:cNvSpPr txBox="1"/>
          <p:nvPr/>
        </p:nvSpPr>
        <p:spPr>
          <a:xfrm>
            <a:off x="8339328" y="2935224"/>
            <a:ext cx="2788920" cy="438912"/>
          </a:xfrm>
          <a:prstGeom prst="rect">
            <a:avLst/>
          </a:prstGeom>
          <a:noFill/>
          <a:ln/>
        </p:spPr>
        <p:txBody>
          <a:bodyPr wrap="square" lIns="0" tIns="0" rIns="0" bIns="0" rtlCol="0" anchor="ctr">
            <a:normAutofit/>
          </a:bodyPr>
          <a:lstStyle/>
          <a:p>
            <a:pPr algn="l" indent="0" marL="0">
              <a:buNone/>
            </a:pPr>
            <a:r>
              <a:rPr lang="en-US" sz="1380" dirty="0">
                <a:solidFill>
                  <a:srgbClr val="617586"/>
                </a:solidFill>
                <a:latin typeface="Noto Sans CJK KR" pitchFamily="34" charset="0"/>
                <a:ea typeface="Noto Sans CJK KR" pitchFamily="34" charset="-122"/>
                <a:cs typeface="Noto Sans CJK KR" pitchFamily="34" charset="-120"/>
              </a:rPr>
              <a:t>ISM 적용 선박·회사</a:t>
            </a:r>
            <a:endParaRPr lang="en-US" sz="1380" dirty="0"/>
          </a:p>
        </p:txBody>
      </p:sp>
      <p:sp>
        <p:nvSpPr>
          <p:cNvPr id="16" name="Shape 14"/>
          <p:cNvSpPr/>
          <p:nvPr/>
        </p:nvSpPr>
        <p:spPr>
          <a:xfrm>
            <a:off x="795528" y="3730752"/>
            <a:ext cx="10515600" cy="822960"/>
          </a:xfrm>
          <a:prstGeom prst="roundRect">
            <a:avLst>
              <a:gd name="adj" fmla="val 16667"/>
            </a:avLst>
          </a:prstGeom>
          <a:solidFill>
            <a:srgbClr val="FFFFFF"/>
          </a:solidFill>
          <a:ln w="12700">
            <a:solidFill>
              <a:srgbClr val="D7E2E9"/>
            </a:solidFill>
            <a:prstDash val="solid"/>
          </a:ln>
        </p:spPr>
      </p:sp>
      <p:sp>
        <p:nvSpPr>
          <p:cNvPr id="17" name="Text 15"/>
          <p:cNvSpPr txBox="1"/>
          <p:nvPr/>
        </p:nvSpPr>
        <p:spPr>
          <a:xfrm>
            <a:off x="978408" y="3922776"/>
            <a:ext cx="2724912" cy="438912"/>
          </a:xfrm>
          <a:prstGeom prst="rect">
            <a:avLst/>
          </a:prstGeom>
          <a:noFill/>
          <a:ln/>
        </p:spPr>
        <p:txBody>
          <a:bodyPr wrap="square" lIns="0" tIns="0" rIns="0" bIns="0" rtlCol="0" anchor="ctr">
            <a:normAutofit/>
          </a:bodyPr>
          <a:lstStyle/>
          <a:p>
            <a:pPr algn="l" indent="0" marL="0">
              <a:buNone/>
            </a:pPr>
            <a:r>
              <a:rPr lang="en-US" sz="1700" b="1" dirty="0">
                <a:solidFill>
                  <a:srgbClr val="173149"/>
                </a:solidFill>
                <a:latin typeface="Noto Sans CJK KR" pitchFamily="34" charset="0"/>
                <a:ea typeface="Noto Sans CJK KR" pitchFamily="34" charset="-122"/>
                <a:cs typeface="Noto Sans CJK KR" pitchFamily="34" charset="-120"/>
              </a:rPr>
              <a:t>IACS E26 / E27</a:t>
            </a:r>
            <a:endParaRPr lang="en-US" sz="1700" dirty="0"/>
          </a:p>
        </p:txBody>
      </p:sp>
      <p:sp>
        <p:nvSpPr>
          <p:cNvPr id="18" name="Text 16"/>
          <p:cNvSpPr txBox="1"/>
          <p:nvPr/>
        </p:nvSpPr>
        <p:spPr>
          <a:xfrm>
            <a:off x="3767328" y="3922776"/>
            <a:ext cx="4151376" cy="438912"/>
          </a:xfrm>
          <a:prstGeom prst="rect">
            <a:avLst/>
          </a:prstGeom>
          <a:noFill/>
          <a:ln/>
        </p:spPr>
        <p:txBody>
          <a:bodyPr wrap="square" lIns="0" tIns="0" rIns="0" bIns="0" rtlCol="0" anchor="ctr">
            <a:normAutofit/>
          </a:bodyPr>
          <a:lstStyle/>
          <a:p>
            <a:pPr algn="l" indent="0" marL="0">
              <a:buNone/>
            </a:pPr>
            <a:r>
              <a:rPr lang="en-US" sz="1520" dirty="0">
                <a:solidFill>
                  <a:srgbClr val="173149"/>
                </a:solidFill>
                <a:latin typeface="Noto Sans CJK KR" pitchFamily="34" charset="0"/>
                <a:ea typeface="Noto Sans CJK KR" pitchFamily="34" charset="-122"/>
                <a:cs typeface="Noto Sans CJK KR" pitchFamily="34" charset="-120"/>
              </a:rPr>
              <a:t>선박·장비의 사이버 복원력 요건</a:t>
            </a:r>
            <a:endParaRPr lang="en-US" sz="1520" dirty="0"/>
          </a:p>
        </p:txBody>
      </p:sp>
      <p:sp>
        <p:nvSpPr>
          <p:cNvPr id="19" name="Text 17"/>
          <p:cNvSpPr txBox="1"/>
          <p:nvPr/>
        </p:nvSpPr>
        <p:spPr>
          <a:xfrm>
            <a:off x="8339328" y="3922776"/>
            <a:ext cx="2788920" cy="438912"/>
          </a:xfrm>
          <a:prstGeom prst="rect">
            <a:avLst/>
          </a:prstGeom>
          <a:noFill/>
          <a:ln/>
        </p:spPr>
        <p:txBody>
          <a:bodyPr wrap="square" lIns="0" tIns="0" rIns="0" bIns="0" rtlCol="0" anchor="ctr">
            <a:normAutofit/>
          </a:bodyPr>
          <a:lstStyle/>
          <a:p>
            <a:pPr algn="l" indent="0" marL="0">
              <a:buNone/>
            </a:pPr>
            <a:r>
              <a:rPr lang="en-US" sz="1380" dirty="0">
                <a:solidFill>
                  <a:srgbClr val="617586"/>
                </a:solidFill>
                <a:latin typeface="Noto Sans CJK KR" pitchFamily="34" charset="0"/>
                <a:ea typeface="Noto Sans CJK KR" pitchFamily="34" charset="-122"/>
                <a:cs typeface="Noto Sans CJK KR" pitchFamily="34" charset="-120"/>
              </a:rPr>
              <a:t>대상 신조선·장비 중심</a:t>
            </a:r>
            <a:endParaRPr lang="en-US" sz="1380" dirty="0"/>
          </a:p>
        </p:txBody>
      </p:sp>
      <p:sp>
        <p:nvSpPr>
          <p:cNvPr id="20" name="Shape 18"/>
          <p:cNvSpPr/>
          <p:nvPr/>
        </p:nvSpPr>
        <p:spPr>
          <a:xfrm>
            <a:off x="795528" y="4718304"/>
            <a:ext cx="10515600" cy="822960"/>
          </a:xfrm>
          <a:prstGeom prst="roundRect">
            <a:avLst>
              <a:gd name="adj" fmla="val 16667"/>
            </a:avLst>
          </a:prstGeom>
          <a:solidFill>
            <a:srgbClr val="FFFFFF"/>
          </a:solidFill>
          <a:ln w="12700">
            <a:solidFill>
              <a:srgbClr val="D7E2E9"/>
            </a:solidFill>
            <a:prstDash val="solid"/>
          </a:ln>
        </p:spPr>
      </p:sp>
      <p:sp>
        <p:nvSpPr>
          <p:cNvPr id="21" name="Text 19"/>
          <p:cNvSpPr txBox="1"/>
          <p:nvPr/>
        </p:nvSpPr>
        <p:spPr>
          <a:xfrm>
            <a:off x="978408" y="4910328"/>
            <a:ext cx="2724912" cy="438912"/>
          </a:xfrm>
          <a:prstGeom prst="rect">
            <a:avLst/>
          </a:prstGeom>
          <a:noFill/>
          <a:ln/>
        </p:spPr>
        <p:txBody>
          <a:bodyPr wrap="square" lIns="0" tIns="0" rIns="0" bIns="0" rtlCol="0" anchor="ctr">
            <a:normAutofit/>
          </a:bodyPr>
          <a:lstStyle/>
          <a:p>
            <a:pPr algn="l" indent="0" marL="0">
              <a:buNone/>
            </a:pPr>
            <a:r>
              <a:rPr lang="en-US" sz="1700" b="1" dirty="0">
                <a:solidFill>
                  <a:srgbClr val="173149"/>
                </a:solidFill>
                <a:latin typeface="Noto Sans CJK KR" pitchFamily="34" charset="0"/>
                <a:ea typeface="Noto Sans CJK KR" pitchFamily="34" charset="-122"/>
                <a:cs typeface="Noto Sans CJK KR" pitchFamily="34" charset="-120"/>
              </a:rPr>
              <a:t>BIMCO v5</a:t>
            </a:r>
            <a:endParaRPr lang="en-US" sz="1700" dirty="0"/>
          </a:p>
        </p:txBody>
      </p:sp>
      <p:sp>
        <p:nvSpPr>
          <p:cNvPr id="22" name="Text 20"/>
          <p:cNvSpPr txBox="1"/>
          <p:nvPr/>
        </p:nvSpPr>
        <p:spPr>
          <a:xfrm>
            <a:off x="3767328" y="4910328"/>
            <a:ext cx="4151376" cy="438912"/>
          </a:xfrm>
          <a:prstGeom prst="rect">
            <a:avLst/>
          </a:prstGeom>
          <a:noFill/>
          <a:ln/>
        </p:spPr>
        <p:txBody>
          <a:bodyPr wrap="square" lIns="0" tIns="0" rIns="0" bIns="0" rtlCol="0" anchor="ctr">
            <a:normAutofit/>
          </a:bodyPr>
          <a:lstStyle/>
          <a:p>
            <a:pPr algn="l" indent="0" marL="0">
              <a:buNone/>
            </a:pPr>
            <a:r>
              <a:rPr lang="en-US" sz="1520" dirty="0">
                <a:solidFill>
                  <a:srgbClr val="173149"/>
                </a:solidFill>
                <a:latin typeface="Noto Sans CJK KR" pitchFamily="34" charset="0"/>
                <a:ea typeface="Noto Sans CJK KR" pitchFamily="34" charset="-122"/>
                <a:cs typeface="Noto Sans CJK KR" pitchFamily="34" charset="-120"/>
              </a:rPr>
              <a:t>선내 관리·사고 대응·복구 권고</a:t>
            </a:r>
            <a:endParaRPr lang="en-US" sz="1520" dirty="0"/>
          </a:p>
        </p:txBody>
      </p:sp>
      <p:sp>
        <p:nvSpPr>
          <p:cNvPr id="23" name="Text 21"/>
          <p:cNvSpPr txBox="1"/>
          <p:nvPr/>
        </p:nvSpPr>
        <p:spPr>
          <a:xfrm>
            <a:off x="8339328" y="4910328"/>
            <a:ext cx="2788920" cy="438912"/>
          </a:xfrm>
          <a:prstGeom prst="rect">
            <a:avLst/>
          </a:prstGeom>
          <a:noFill/>
          <a:ln/>
        </p:spPr>
        <p:txBody>
          <a:bodyPr wrap="square" lIns="0" tIns="0" rIns="0" bIns="0" rtlCol="0" anchor="ctr">
            <a:normAutofit/>
          </a:bodyPr>
          <a:lstStyle/>
          <a:p>
            <a:pPr algn="l" indent="0" marL="0">
              <a:buNone/>
            </a:pPr>
            <a:r>
              <a:rPr lang="en-US" sz="1380" dirty="0">
                <a:solidFill>
                  <a:srgbClr val="617586"/>
                </a:solidFill>
                <a:latin typeface="Noto Sans CJK KR" pitchFamily="34" charset="0"/>
                <a:ea typeface="Noto Sans CJK KR" pitchFamily="34" charset="-122"/>
                <a:cs typeface="Noto Sans CJK KR" pitchFamily="34" charset="-120"/>
              </a:rPr>
              <a:t>업계 가이드</a:t>
            </a:r>
            <a:endParaRPr lang="en-US" sz="1380" dirty="0"/>
          </a:p>
        </p:txBody>
      </p:sp>
      <p:sp>
        <p:nvSpPr>
          <p:cNvPr id="24" name="Shape 22"/>
          <p:cNvSpPr/>
          <p:nvPr/>
        </p:nvSpPr>
        <p:spPr>
          <a:xfrm>
            <a:off x="813816" y="5843016"/>
            <a:ext cx="10506456" cy="384048"/>
          </a:xfrm>
          <a:prstGeom prst="roundRect">
            <a:avLst>
              <a:gd name="adj" fmla="val 35714"/>
            </a:avLst>
          </a:prstGeom>
          <a:solidFill>
            <a:srgbClr val="FFF3E5"/>
          </a:solidFill>
          <a:ln w="12700">
            <a:solidFill>
              <a:srgbClr val="FFF3E5">
                <a:alpha val="0"/>
              </a:srgbClr>
            </a:solidFill>
            <a:prstDash val="solid"/>
          </a:ln>
        </p:spPr>
      </p:sp>
      <p:sp>
        <p:nvSpPr>
          <p:cNvPr id="25" name="Text 23"/>
          <p:cNvSpPr txBox="1"/>
          <p:nvPr/>
        </p:nvSpPr>
        <p:spPr>
          <a:xfrm>
            <a:off x="969264" y="5897880"/>
            <a:ext cx="10168128" cy="246888"/>
          </a:xfrm>
          <a:prstGeom prst="rect">
            <a:avLst/>
          </a:prstGeom>
          <a:noFill/>
          <a:ln/>
        </p:spPr>
        <p:txBody>
          <a:bodyPr wrap="square" lIns="0" tIns="0" rIns="0" bIns="0" rtlCol="0" anchor="ctr">
            <a:normAutofit/>
          </a:bodyPr>
          <a:lstStyle/>
          <a:p>
            <a:pPr algn="l" indent="0" marL="0">
              <a:buNone/>
            </a:pPr>
            <a:r>
              <a:rPr lang="en-US" sz="1260" b="1" dirty="0">
                <a:solidFill>
                  <a:srgbClr val="B76A19"/>
                </a:solidFill>
                <a:latin typeface="Noto Sans CJK KR" pitchFamily="34" charset="0"/>
                <a:ea typeface="Noto Sans CJK KR" pitchFamily="34" charset="-122"/>
                <a:cs typeface="Noto Sans CJK KR" pitchFamily="34" charset="-120"/>
              </a:rPr>
              <a:t>원문 확인 44/44  |  적용 범위·법적 의무의 타당성은 전문가 판정 전</a:t>
            </a:r>
            <a:endParaRPr lang="en-US" sz="12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EVALUATION</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기술적 재현성과 내용의 타당성은 다릅니다</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자동 점검 23 통과·1 부분·3 미실시 / 핵심 근거 일치18·부분2·미대조0</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11</a:t>
            </a:r>
            <a:endParaRPr lang="en-US" sz="1000" dirty="0"/>
          </a:p>
        </p:txBody>
      </p:sp>
      <p:sp>
        <p:nvSpPr>
          <p:cNvPr id="8" name="Shape 6"/>
          <p:cNvSpPr/>
          <p:nvPr/>
        </p:nvSpPr>
        <p:spPr>
          <a:xfrm>
            <a:off x="749808" y="1755648"/>
            <a:ext cx="5184648" cy="3337560"/>
          </a:xfrm>
          <a:prstGeom prst="roundRect">
            <a:avLst>
              <a:gd name="adj" fmla="val 4110"/>
            </a:avLst>
          </a:prstGeom>
          <a:solidFill>
            <a:srgbClr val="FFFFFF"/>
          </a:solidFill>
          <a:ln w="12700">
            <a:solidFill>
              <a:srgbClr val="D7E2E9"/>
            </a:solidFill>
            <a:prstDash val="solid"/>
          </a:ln>
        </p:spPr>
      </p:sp>
      <p:sp>
        <p:nvSpPr>
          <p:cNvPr id="9" name="Text 7"/>
          <p:cNvSpPr txBox="1"/>
          <p:nvPr/>
        </p:nvSpPr>
        <p:spPr>
          <a:xfrm>
            <a:off x="969264" y="2020824"/>
            <a:ext cx="4681728" cy="484632"/>
          </a:xfrm>
          <a:prstGeom prst="rect">
            <a:avLst/>
          </a:prstGeom>
          <a:noFill/>
          <a:ln/>
        </p:spPr>
        <p:txBody>
          <a:bodyPr wrap="square" lIns="0" tIns="0" rIns="0" bIns="0" rtlCol="0" anchor="ctr">
            <a:normAutofit/>
          </a:bodyPr>
          <a:lstStyle/>
          <a:p>
            <a:pPr algn="l" indent="0" marL="0">
              <a:buNone/>
            </a:pPr>
            <a:r>
              <a:rPr lang="en-US" sz="2060" b="1" dirty="0">
                <a:solidFill>
                  <a:srgbClr val="112A3F"/>
                </a:solidFill>
                <a:latin typeface="Noto Sans CJK KR" pitchFamily="34" charset="0"/>
                <a:ea typeface="Noto Sans CJK KR" pitchFamily="34" charset="-122"/>
                <a:cs typeface="Noto Sans CJK KR" pitchFamily="34" charset="-120"/>
              </a:rPr>
              <a:t>확인된 개발 성과</a:t>
            </a:r>
            <a:endParaRPr lang="en-US" sz="2060" dirty="0"/>
          </a:p>
        </p:txBody>
      </p:sp>
      <p:sp>
        <p:nvSpPr>
          <p:cNvPr id="10" name="Text 8"/>
          <p:cNvSpPr txBox="1"/>
          <p:nvPr/>
        </p:nvSpPr>
        <p:spPr>
          <a:xfrm>
            <a:off x="1014984" y="2734056"/>
            <a:ext cx="4535424" cy="1728216"/>
          </a:xfrm>
          <a:prstGeom prst="rect">
            <a:avLst/>
          </a:prstGeom>
          <a:noFill/>
          <a:ln/>
        </p:spPr>
        <p:txBody>
          <a:bodyPr wrap="square" lIns="0" tIns="0" rIns="0" bIns="0" rtlCol="0" anchor="t">
            <a:normAutofit/>
          </a:bodyPr>
          <a:lstStyle/>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 원본 데이터 적재·가공 코드</a:t>
            </a:r>
            <a:endParaRPr lang="en-US" sz="1620" dirty="0"/>
          </a:p>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 웹 화면 및 시나리오 기능 점검</a:t>
            </a:r>
            <a:endParaRPr lang="en-US" sz="1620" dirty="0"/>
          </a:p>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 기준 문서 조항의 원문 대조 상태 기록</a:t>
            </a:r>
            <a:endParaRPr lang="en-US" sz="1620" dirty="0"/>
          </a:p>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 실패·미실시 항목 명시</a:t>
            </a:r>
            <a:endParaRPr lang="en-US" sz="1620" dirty="0"/>
          </a:p>
        </p:txBody>
      </p:sp>
      <p:sp>
        <p:nvSpPr>
          <p:cNvPr id="11" name="Shape 9"/>
          <p:cNvSpPr/>
          <p:nvPr/>
        </p:nvSpPr>
        <p:spPr>
          <a:xfrm>
            <a:off x="6172200" y="1755648"/>
            <a:ext cx="5166360" cy="3337560"/>
          </a:xfrm>
          <a:prstGeom prst="roundRect">
            <a:avLst>
              <a:gd name="adj" fmla="val 4110"/>
            </a:avLst>
          </a:prstGeom>
          <a:solidFill>
            <a:srgbClr val="FFF3E5"/>
          </a:solidFill>
          <a:ln w="12700">
            <a:solidFill>
              <a:srgbClr val="E8CBB3"/>
            </a:solidFill>
            <a:prstDash val="solid"/>
          </a:ln>
        </p:spPr>
      </p:sp>
      <p:sp>
        <p:nvSpPr>
          <p:cNvPr id="12" name="Text 10"/>
          <p:cNvSpPr txBox="1"/>
          <p:nvPr/>
        </p:nvSpPr>
        <p:spPr>
          <a:xfrm>
            <a:off x="6428232" y="2020824"/>
            <a:ext cx="4617720" cy="484632"/>
          </a:xfrm>
          <a:prstGeom prst="rect">
            <a:avLst/>
          </a:prstGeom>
          <a:noFill/>
          <a:ln/>
        </p:spPr>
        <p:txBody>
          <a:bodyPr wrap="square" lIns="0" tIns="0" rIns="0" bIns="0" rtlCol="0" anchor="ctr">
            <a:normAutofit/>
          </a:bodyPr>
          <a:lstStyle/>
          <a:p>
            <a:pPr algn="l" indent="0" marL="0">
              <a:buNone/>
            </a:pPr>
            <a:r>
              <a:rPr lang="en-US" sz="2060" b="1" dirty="0">
                <a:solidFill>
                  <a:srgbClr val="B76A19"/>
                </a:solidFill>
                <a:latin typeface="Noto Sans CJK KR" pitchFamily="34" charset="0"/>
                <a:ea typeface="Noto Sans CJK KR" pitchFamily="34" charset="-122"/>
                <a:cs typeface="Noto Sans CJK KR" pitchFamily="34" charset="-120"/>
              </a:rPr>
              <a:t>아직 입증하지 않은 것</a:t>
            </a:r>
            <a:endParaRPr lang="en-US" sz="2060" dirty="0"/>
          </a:p>
        </p:txBody>
      </p:sp>
      <p:sp>
        <p:nvSpPr>
          <p:cNvPr id="13" name="Text 11"/>
          <p:cNvSpPr txBox="1"/>
          <p:nvPr/>
        </p:nvSpPr>
        <p:spPr>
          <a:xfrm>
            <a:off x="6464808" y="2734056"/>
            <a:ext cx="4526280" cy="1728216"/>
          </a:xfrm>
          <a:prstGeom prst="rect">
            <a:avLst/>
          </a:prstGeom>
          <a:noFill/>
          <a:ln/>
        </p:spPr>
        <p:txBody>
          <a:bodyPr wrap="square" lIns="0" tIns="0" rIns="0" bIns="0" rtlCol="0" anchor="t">
            <a:normAutofit/>
          </a:bodyPr>
          <a:lstStyle/>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 20행의 사람 2인 독립 검수</a:t>
            </a:r>
            <a:endParaRPr lang="en-US" sz="1620" dirty="0"/>
          </a:p>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 공격·규제 매핑 전문가 판정</a:t>
            </a:r>
            <a:endParaRPr lang="en-US" sz="1620" dirty="0"/>
          </a:p>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 해기사 대응 절차의 현장 적절성</a:t>
            </a:r>
            <a:endParaRPr lang="en-US" sz="1620" dirty="0"/>
          </a:p>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 MCAD 비교 및 교육 효과</a:t>
            </a:r>
            <a:endParaRPr lang="en-US" sz="1620" dirty="0"/>
          </a:p>
        </p:txBody>
      </p:sp>
      <p:sp>
        <p:nvSpPr>
          <p:cNvPr id="14" name="Text 12"/>
          <p:cNvSpPr txBox="1"/>
          <p:nvPr/>
        </p:nvSpPr>
        <p:spPr>
          <a:xfrm>
            <a:off x="850392" y="5440680"/>
            <a:ext cx="10332720" cy="402336"/>
          </a:xfrm>
          <a:prstGeom prst="rect">
            <a:avLst/>
          </a:prstGeom>
          <a:noFill/>
          <a:ln/>
        </p:spPr>
        <p:txBody>
          <a:bodyPr wrap="square" lIns="0" tIns="0" rIns="0" bIns="0" rtlCol="0" anchor="ctr">
            <a:normAutofit/>
          </a:bodyPr>
          <a:lstStyle/>
          <a:p>
            <a:pPr algn="l" indent="0" marL="0">
              <a:buNone/>
            </a:pPr>
            <a:r>
              <a:rPr lang="en-US" sz="1700" b="1" dirty="0">
                <a:solidFill>
                  <a:srgbClr val="287C6B"/>
                </a:solidFill>
                <a:latin typeface="Noto Sans CJK KR" pitchFamily="34" charset="0"/>
                <a:ea typeface="Noto Sans CJK KR" pitchFamily="34" charset="-122"/>
                <a:cs typeface="Noto Sans CJK KR" pitchFamily="34" charset="-120"/>
              </a:rPr>
              <a:t>핵심 근거 20행  |  일치 18 · 부분 2 · 미대조 0 · 접근 실패 0</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CONCLUSION</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결론: 근거의 한계를 드러내는 대응 지원 프로토타입</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후속 검증: 사람 2인 판정·전문가 적합성·기존 서비스 대비 사용성 실험</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12</a:t>
            </a:r>
            <a:endParaRPr lang="en-US" sz="1000" dirty="0"/>
          </a:p>
        </p:txBody>
      </p:sp>
      <p:sp>
        <p:nvSpPr>
          <p:cNvPr id="8" name="Shape 6"/>
          <p:cNvSpPr/>
          <p:nvPr/>
        </p:nvSpPr>
        <p:spPr>
          <a:xfrm>
            <a:off x="786384" y="1792224"/>
            <a:ext cx="10652760" cy="1170432"/>
          </a:xfrm>
          <a:prstGeom prst="roundRect">
            <a:avLst>
              <a:gd name="adj" fmla="val 11719"/>
            </a:avLst>
          </a:prstGeom>
          <a:solidFill>
            <a:srgbClr val="112A3F"/>
          </a:solidFill>
          <a:ln w="12700">
            <a:solidFill>
              <a:srgbClr val="112A3F">
                <a:alpha val="0"/>
              </a:srgbClr>
            </a:solidFill>
            <a:prstDash val="solid"/>
          </a:ln>
        </p:spPr>
      </p:sp>
      <p:sp>
        <p:nvSpPr>
          <p:cNvPr id="9" name="Text 7"/>
          <p:cNvSpPr txBox="1"/>
          <p:nvPr/>
        </p:nvSpPr>
        <p:spPr>
          <a:xfrm>
            <a:off x="1078992" y="2112264"/>
            <a:ext cx="10113264" cy="484632"/>
          </a:xfrm>
          <a:prstGeom prst="rect">
            <a:avLst/>
          </a:prstGeom>
          <a:noFill/>
          <a:ln/>
        </p:spPr>
        <p:txBody>
          <a:bodyPr wrap="square" lIns="0" tIns="0" rIns="0" bIns="0" rtlCol="0" anchor="ctr">
            <a:normAutofit/>
          </a:bodyPr>
          <a:lstStyle/>
          <a:p>
            <a:pPr algn="ctr" indent="0" marL="0">
              <a:buNone/>
            </a:pPr>
            <a:r>
              <a:rPr lang="en-US" sz="2050" b="1" dirty="0">
                <a:solidFill>
                  <a:srgbClr val="FFFFFF"/>
                </a:solidFill>
                <a:latin typeface="Noto Sans CJK KR" pitchFamily="34" charset="0"/>
                <a:ea typeface="Noto Sans CJK KR" pitchFamily="34" charset="-122"/>
                <a:cs typeface="Noto Sans CJK KR" pitchFamily="34" charset="-120"/>
              </a:rPr>
              <a:t>공개 사고 기록  →  근거가 보이는 자산별 분석  →  선내 대응 판단 참고</a:t>
            </a:r>
            <a:endParaRPr lang="en-US" sz="2050" dirty="0"/>
          </a:p>
        </p:txBody>
      </p:sp>
      <p:sp>
        <p:nvSpPr>
          <p:cNvPr id="10" name="Shape 8"/>
          <p:cNvSpPr/>
          <p:nvPr/>
        </p:nvSpPr>
        <p:spPr>
          <a:xfrm>
            <a:off x="841248" y="3429000"/>
            <a:ext cx="10497312" cy="594360"/>
          </a:xfrm>
          <a:prstGeom prst="roundRect">
            <a:avLst>
              <a:gd name="adj" fmla="val 23077"/>
            </a:avLst>
          </a:prstGeom>
          <a:solidFill>
            <a:srgbClr val="FFFFFF"/>
          </a:solidFill>
          <a:ln w="12700">
            <a:solidFill>
              <a:srgbClr val="D7E2E9"/>
            </a:solidFill>
            <a:prstDash val="solid"/>
          </a:ln>
        </p:spPr>
      </p:sp>
      <p:sp>
        <p:nvSpPr>
          <p:cNvPr id="11" name="Text 9"/>
          <p:cNvSpPr txBox="1"/>
          <p:nvPr/>
        </p:nvSpPr>
        <p:spPr>
          <a:xfrm>
            <a:off x="1069848" y="3520440"/>
            <a:ext cx="1097280" cy="384048"/>
          </a:xfrm>
          <a:prstGeom prst="rect">
            <a:avLst/>
          </a:prstGeom>
          <a:noFill/>
          <a:ln/>
        </p:spPr>
        <p:txBody>
          <a:bodyPr wrap="square" lIns="0" tIns="0" rIns="0" bIns="0" rtlCol="0" anchor="ctr">
            <a:normAutofit/>
          </a:bodyPr>
          <a:lstStyle/>
          <a:p>
            <a:pPr algn="l" indent="0" marL="0">
              <a:buNone/>
            </a:pPr>
            <a:r>
              <a:rPr lang="en-US" sz="1600" b="1" dirty="0">
                <a:solidFill>
                  <a:srgbClr val="195C81"/>
                </a:solidFill>
                <a:latin typeface="Noto Sans CJK KR" pitchFamily="34" charset="0"/>
                <a:ea typeface="Noto Sans CJK KR" pitchFamily="34" charset="-122"/>
                <a:cs typeface="Noto Sans CJK KR" pitchFamily="34" charset="-120"/>
              </a:rPr>
              <a:t>구현</a:t>
            </a:r>
            <a:endParaRPr lang="en-US" sz="1600" dirty="0"/>
          </a:p>
        </p:txBody>
      </p:sp>
      <p:sp>
        <p:nvSpPr>
          <p:cNvPr id="12" name="Text 10"/>
          <p:cNvSpPr txBox="1"/>
          <p:nvPr/>
        </p:nvSpPr>
        <p:spPr>
          <a:xfrm>
            <a:off x="2231136" y="3520440"/>
            <a:ext cx="8723376" cy="384048"/>
          </a:xfrm>
          <a:prstGeom prst="rect">
            <a:avLst/>
          </a:prstGeom>
          <a:noFill/>
          <a:ln/>
        </p:spPr>
        <p:txBody>
          <a:bodyPr wrap="square" lIns="0" tIns="0" rIns="0" bIns="0" rtlCol="0" anchor="ctr">
            <a:normAutofit/>
          </a:bodyPr>
          <a:lstStyle/>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데이터 조회·근거 표시·카드·탁상훈련</a:t>
            </a:r>
            <a:endParaRPr lang="en-US" sz="1620" dirty="0"/>
          </a:p>
        </p:txBody>
      </p:sp>
      <p:sp>
        <p:nvSpPr>
          <p:cNvPr id="13" name="Shape 11"/>
          <p:cNvSpPr/>
          <p:nvPr/>
        </p:nvSpPr>
        <p:spPr>
          <a:xfrm>
            <a:off x="841248" y="4169664"/>
            <a:ext cx="10497312" cy="594360"/>
          </a:xfrm>
          <a:prstGeom prst="roundRect">
            <a:avLst>
              <a:gd name="adj" fmla="val 23077"/>
            </a:avLst>
          </a:prstGeom>
          <a:solidFill>
            <a:srgbClr val="FFFFFF"/>
          </a:solidFill>
          <a:ln w="12700">
            <a:solidFill>
              <a:srgbClr val="D7E2E9"/>
            </a:solidFill>
            <a:prstDash val="solid"/>
          </a:ln>
        </p:spPr>
      </p:sp>
      <p:sp>
        <p:nvSpPr>
          <p:cNvPr id="14" name="Text 12"/>
          <p:cNvSpPr txBox="1"/>
          <p:nvPr/>
        </p:nvSpPr>
        <p:spPr>
          <a:xfrm>
            <a:off x="1069848" y="4261104"/>
            <a:ext cx="1097280" cy="384048"/>
          </a:xfrm>
          <a:prstGeom prst="rect">
            <a:avLst/>
          </a:prstGeom>
          <a:noFill/>
          <a:ln/>
        </p:spPr>
        <p:txBody>
          <a:bodyPr wrap="square" lIns="0" tIns="0" rIns="0" bIns="0" rtlCol="0" anchor="ctr">
            <a:normAutofit/>
          </a:bodyPr>
          <a:lstStyle/>
          <a:p>
            <a:pPr algn="l" indent="0" marL="0">
              <a:buNone/>
            </a:pPr>
            <a:r>
              <a:rPr lang="en-US" sz="1600" b="1" dirty="0">
                <a:solidFill>
                  <a:srgbClr val="195C81"/>
                </a:solidFill>
                <a:latin typeface="Noto Sans CJK KR" pitchFamily="34" charset="0"/>
                <a:ea typeface="Noto Sans CJK KR" pitchFamily="34" charset="-122"/>
                <a:cs typeface="Noto Sans CJK KR" pitchFamily="34" charset="-120"/>
              </a:rPr>
              <a:t>강점</a:t>
            </a:r>
            <a:endParaRPr lang="en-US" sz="1600" dirty="0"/>
          </a:p>
        </p:txBody>
      </p:sp>
      <p:sp>
        <p:nvSpPr>
          <p:cNvPr id="15" name="Text 13"/>
          <p:cNvSpPr txBox="1"/>
          <p:nvPr/>
        </p:nvSpPr>
        <p:spPr>
          <a:xfrm>
            <a:off x="2231136" y="4261104"/>
            <a:ext cx="8723376" cy="384048"/>
          </a:xfrm>
          <a:prstGeom prst="rect">
            <a:avLst/>
          </a:prstGeom>
          <a:noFill/>
          <a:ln/>
        </p:spPr>
        <p:txBody>
          <a:bodyPr wrap="square" lIns="0" tIns="0" rIns="0" bIns="0" rtlCol="0" anchor="ctr">
            <a:normAutofit/>
          </a:bodyPr>
          <a:lstStyle/>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실제 사고의 사실·참고·가정·미확인 분리</a:t>
            </a:r>
            <a:endParaRPr lang="en-US" sz="1620" dirty="0"/>
          </a:p>
        </p:txBody>
      </p:sp>
      <p:sp>
        <p:nvSpPr>
          <p:cNvPr id="16" name="Shape 14"/>
          <p:cNvSpPr/>
          <p:nvPr/>
        </p:nvSpPr>
        <p:spPr>
          <a:xfrm>
            <a:off x="841248" y="4910328"/>
            <a:ext cx="10497312" cy="594360"/>
          </a:xfrm>
          <a:prstGeom prst="roundRect">
            <a:avLst>
              <a:gd name="adj" fmla="val 23077"/>
            </a:avLst>
          </a:prstGeom>
          <a:solidFill>
            <a:srgbClr val="FFFFFF"/>
          </a:solidFill>
          <a:ln w="12700">
            <a:solidFill>
              <a:srgbClr val="D7E2E9"/>
            </a:solidFill>
            <a:prstDash val="solid"/>
          </a:ln>
        </p:spPr>
      </p:sp>
      <p:sp>
        <p:nvSpPr>
          <p:cNvPr id="17" name="Text 15"/>
          <p:cNvSpPr txBox="1"/>
          <p:nvPr/>
        </p:nvSpPr>
        <p:spPr>
          <a:xfrm>
            <a:off x="1069848" y="5001768"/>
            <a:ext cx="1097280" cy="384048"/>
          </a:xfrm>
          <a:prstGeom prst="rect">
            <a:avLst/>
          </a:prstGeom>
          <a:noFill/>
          <a:ln/>
        </p:spPr>
        <p:txBody>
          <a:bodyPr wrap="square" lIns="0" tIns="0" rIns="0" bIns="0" rtlCol="0" anchor="ctr">
            <a:normAutofit/>
          </a:bodyPr>
          <a:lstStyle/>
          <a:p>
            <a:pPr algn="l" indent="0" marL="0">
              <a:buNone/>
            </a:pPr>
            <a:r>
              <a:rPr lang="en-US" sz="1600" b="1" dirty="0">
                <a:solidFill>
                  <a:srgbClr val="B76A19"/>
                </a:solidFill>
                <a:latin typeface="Noto Sans CJK KR" pitchFamily="34" charset="0"/>
                <a:ea typeface="Noto Sans CJK KR" pitchFamily="34" charset="-122"/>
                <a:cs typeface="Noto Sans CJK KR" pitchFamily="34" charset="-120"/>
              </a:rPr>
              <a:t>한계</a:t>
            </a:r>
            <a:endParaRPr lang="en-US" sz="1600" dirty="0"/>
          </a:p>
        </p:txBody>
      </p:sp>
      <p:sp>
        <p:nvSpPr>
          <p:cNvPr id="18" name="Text 16"/>
          <p:cNvSpPr txBox="1"/>
          <p:nvPr/>
        </p:nvSpPr>
        <p:spPr>
          <a:xfrm>
            <a:off x="2231136" y="5001768"/>
            <a:ext cx="8723376" cy="384048"/>
          </a:xfrm>
          <a:prstGeom prst="rect">
            <a:avLst/>
          </a:prstGeom>
          <a:noFill/>
          <a:ln/>
        </p:spPr>
        <p:txBody>
          <a:bodyPr wrap="square" lIns="0" tIns="0" rIns="0" bIns="0" rtlCol="0" anchor="ctr">
            <a:normAutofit/>
          </a:bodyPr>
          <a:lstStyle/>
          <a:p>
            <a:pPr algn="l" indent="0" marL="0">
              <a:buNone/>
            </a:pPr>
            <a:r>
              <a:rPr lang="en-US" sz="1620" dirty="0">
                <a:solidFill>
                  <a:srgbClr val="173149"/>
                </a:solidFill>
                <a:latin typeface="Noto Sans CJK KR" pitchFamily="34" charset="0"/>
                <a:ea typeface="Noto Sans CJK KR" pitchFamily="34" charset="-122"/>
                <a:cs typeface="Noto Sans CJK KR" pitchFamily="34" charset="-120"/>
              </a:rPr>
              <a:t>사람·전문가 검증과 효과 측정 미실시</a:t>
            </a:r>
            <a:endParaRPr lang="en-US" sz="1620" dirty="0"/>
          </a:p>
        </p:txBody>
      </p:sp>
      <p:sp>
        <p:nvSpPr>
          <p:cNvPr id="19" name="Text 17"/>
          <p:cNvSpPr txBox="1"/>
          <p:nvPr/>
        </p:nvSpPr>
        <p:spPr>
          <a:xfrm>
            <a:off x="896112" y="5925312"/>
            <a:ext cx="9875520" cy="429768"/>
          </a:xfrm>
          <a:prstGeom prst="rect">
            <a:avLst/>
          </a:prstGeom>
          <a:noFill/>
          <a:ln/>
        </p:spPr>
        <p:txBody>
          <a:bodyPr wrap="square" lIns="0" tIns="0" rIns="0" bIns="0" rtlCol="0" anchor="ctr">
            <a:normAutofit/>
          </a:bodyPr>
          <a:lstStyle/>
          <a:p>
            <a:pPr algn="l" indent="0" marL="0">
              <a:buNone/>
            </a:pPr>
            <a:r>
              <a:rPr lang="en-US" sz="2010" b="1" dirty="0">
                <a:solidFill>
                  <a:srgbClr val="112A3F"/>
                </a:solidFill>
                <a:latin typeface="Noto Sans CJK KR" pitchFamily="34" charset="0"/>
                <a:ea typeface="Noto Sans CJK KR" pitchFamily="34" charset="-122"/>
                <a:cs typeface="Noto Sans CJK KR" pitchFamily="34" charset="-120"/>
              </a:rPr>
              <a:t>감사합니다. 질문 부탁드립니다.</a:t>
            </a:r>
            <a:endParaRPr lang="en-US" sz="20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oundRect">
            <a:avLst>
              <a:gd name="adj" fmla="val 115385"/>
            </a:avLst>
          </a:prstGeom>
          <a:solidFill>
            <a:srgbClr val="0C8A91"/>
          </a:solidFill>
          <a:ln w="12700">
            <a:solidFill>
              <a:srgbClr val="0C8A91">
                <a:alpha val="0"/>
              </a:srgbClr>
            </a:solidFill>
            <a:prstDash val="solid"/>
          </a:ln>
        </p:spPr>
      </p:sp>
      <p:sp>
        <p:nvSpPr>
          <p:cNvPr id="3" name="Text 1"/>
          <p:cNvSpPr txBox="1"/>
          <p:nvPr/>
        </p:nvSpPr>
        <p:spPr>
          <a:xfrm>
            <a:off x="640080" y="310896"/>
            <a:ext cx="5486400" cy="192024"/>
          </a:xfrm>
          <a:prstGeom prst="rect">
            <a:avLst/>
          </a:prstGeom>
          <a:noFill/>
          <a:ln/>
        </p:spPr>
        <p:txBody>
          <a:bodyPr wrap="square" lIns="0" tIns="0" rIns="0" bIns="0" rtlCol="0" anchor="ctr">
            <a:normAutofit/>
          </a:bodyPr>
          <a:lstStyle/>
          <a:p>
            <a:pPr algn="l" indent="0" marL="0">
              <a:buNone/>
            </a:pPr>
            <a:r>
              <a:rPr lang="en-US" sz="1000" b="1" spc="120" kern="0" dirty="0">
                <a:solidFill>
                  <a:srgbClr val="0C8A91"/>
                </a:solidFill>
                <a:latin typeface="Noto Sans CJK KR" pitchFamily="34" charset="0"/>
                <a:ea typeface="Noto Sans CJK KR" pitchFamily="34" charset="-122"/>
                <a:cs typeface="Noto Sans CJK KR" pitchFamily="34" charset="-120"/>
              </a:rPr>
              <a:t>REFERENCES</a:t>
            </a:r>
            <a:endParaRPr lang="en-US" sz="1000" dirty="0"/>
          </a:p>
        </p:txBody>
      </p:sp>
      <p:sp>
        <p:nvSpPr>
          <p:cNvPr id="4" name="Text 2"/>
          <p:cNvSpPr txBox="1"/>
          <p:nvPr/>
        </p:nvSpPr>
        <p:spPr>
          <a:xfrm>
            <a:off x="640080" y="640080"/>
            <a:ext cx="10881360" cy="658368"/>
          </a:xfrm>
          <a:prstGeom prst="rect">
            <a:avLst/>
          </a:prstGeom>
          <a:noFill/>
          <a:ln/>
        </p:spPr>
        <p:txBody>
          <a:bodyPr wrap="square" lIns="0" tIns="0" rIns="0" bIns="0" rtlCol="0" anchor="ctr">
            <a:normAutofit/>
          </a:bodyPr>
          <a:lstStyle/>
          <a:p>
            <a:pPr algn="l" indent="0" marL="0">
              <a:buNone/>
            </a:pPr>
            <a:r>
              <a:rPr lang="en-US" sz="2750" b="1" dirty="0">
                <a:solidFill>
                  <a:srgbClr val="112A3F"/>
                </a:solidFill>
                <a:latin typeface="Noto Sans CJK KR" pitchFamily="34" charset="0"/>
                <a:ea typeface="Noto Sans CJK KR" pitchFamily="34" charset="-122"/>
                <a:cs typeface="Noto Sans CJK KR" pitchFamily="34" charset="-120"/>
              </a:rPr>
              <a:t>대표 참고자료 및 검증 근거</a:t>
            </a:r>
            <a:endParaRPr lang="en-US" sz="2750" dirty="0"/>
          </a:p>
        </p:txBody>
      </p:sp>
      <p:sp>
        <p:nvSpPr>
          <p:cNvPr id="5" name="Shape 3"/>
          <p:cNvSpPr/>
          <p:nvPr/>
        </p:nvSpPr>
        <p:spPr>
          <a:xfrm>
            <a:off x="640080" y="1399032"/>
            <a:ext cx="10908792" cy="0"/>
          </a:xfrm>
          <a:prstGeom prst="line">
            <a:avLst/>
          </a:prstGeom>
          <a:noFill/>
          <a:ln w="15240">
            <a:solidFill>
              <a:srgbClr val="D7E2E9"/>
            </a:solidFill>
            <a:prstDash val="solid"/>
            <a:headEnd type="none"/>
            <a:tailEnd type="none"/>
          </a:ln>
        </p:spPr>
      </p:sp>
      <p:sp>
        <p:nvSpPr>
          <p:cNvPr id="6" name="Text 4"/>
          <p:cNvSpPr txBox="1"/>
          <p:nvPr/>
        </p:nvSpPr>
        <p:spPr>
          <a:xfrm>
            <a:off x="640080" y="6492240"/>
            <a:ext cx="9875520" cy="182880"/>
          </a:xfrm>
          <a:prstGeom prst="rect">
            <a:avLst/>
          </a:prstGeom>
          <a:noFill/>
          <a:ln/>
        </p:spPr>
        <p:txBody>
          <a:bodyPr wrap="square" lIns="0" tIns="0" rIns="0" bIns="0" rtlCol="0" anchor="ctr">
            <a:normAutofit/>
          </a:bodyPr>
          <a:lstStyle/>
          <a:p>
            <a:pPr algn="l" indent="0" marL="0">
              <a:buNone/>
            </a:pPr>
            <a:r>
              <a:rPr lang="en-US" sz="840" dirty="0">
                <a:solidFill>
                  <a:srgbClr val="617586"/>
                </a:solidFill>
                <a:latin typeface="Noto Sans CJK KR" pitchFamily="34" charset="0"/>
                <a:ea typeface="Noto Sans CJK KR" pitchFamily="34" charset="-122"/>
                <a:cs typeface="Noto Sans CJK KR" pitchFamily="34" charset="-120"/>
              </a:rPr>
              <a:t>아래는 자료 확인을 위한 출처입니다. 링크 유효성은 제출 전 재확인 바랍니다.</a:t>
            </a:r>
            <a:endParaRPr lang="en-US" sz="840" dirty="0"/>
          </a:p>
        </p:txBody>
      </p:sp>
      <p:sp>
        <p:nvSpPr>
          <p:cNvPr id="7" name="Text 5"/>
          <p:cNvSpPr txBox="1"/>
          <p:nvPr/>
        </p:nvSpPr>
        <p:spPr>
          <a:xfrm>
            <a:off x="11018520" y="6464808"/>
            <a:ext cx="475488" cy="219456"/>
          </a:xfrm>
          <a:prstGeom prst="rect">
            <a:avLst/>
          </a:prstGeom>
          <a:noFill/>
          <a:ln/>
        </p:spPr>
        <p:txBody>
          <a:bodyPr wrap="square" lIns="0" tIns="0" rIns="0" bIns="0" rtlCol="0" anchor="ctr">
            <a:normAutofit/>
          </a:bodyPr>
          <a:lstStyle/>
          <a:p>
            <a:pPr algn="r" indent="0" marL="0">
              <a:buNone/>
            </a:pPr>
            <a:r>
              <a:rPr lang="en-US" sz="1000" b="1" dirty="0">
                <a:solidFill>
                  <a:srgbClr val="617586"/>
                </a:solidFill>
                <a:latin typeface="Noto Sans CJK KR" pitchFamily="34" charset="0"/>
                <a:ea typeface="Noto Sans CJK KR" pitchFamily="34" charset="-122"/>
                <a:cs typeface="Noto Sans CJK KR" pitchFamily="34" charset="-120"/>
              </a:rPr>
              <a:t>13</a:t>
            </a:r>
            <a:endParaRPr lang="en-US" sz="1000" dirty="0"/>
          </a:p>
        </p:txBody>
      </p:sp>
      <p:sp>
        <p:nvSpPr>
          <p:cNvPr id="8" name="Shape 6"/>
          <p:cNvSpPr/>
          <p:nvPr/>
        </p:nvSpPr>
        <p:spPr>
          <a:xfrm>
            <a:off x="795528" y="1618488"/>
            <a:ext cx="10488168" cy="457200"/>
          </a:xfrm>
          <a:prstGeom prst="roundRect">
            <a:avLst>
              <a:gd name="adj" fmla="val 30000"/>
            </a:avLst>
          </a:prstGeom>
          <a:solidFill>
            <a:srgbClr val="FFFFFF"/>
          </a:solidFill>
          <a:ln w="12700">
            <a:solidFill>
              <a:srgbClr val="FFFFFF">
                <a:alpha val="0"/>
              </a:srgbClr>
            </a:solidFill>
            <a:prstDash val="solid"/>
          </a:ln>
        </p:spPr>
      </p:sp>
      <p:sp>
        <p:nvSpPr>
          <p:cNvPr id="9" name="Text 7"/>
          <p:cNvSpPr txBox="1"/>
          <p:nvPr/>
        </p:nvSpPr>
        <p:spPr>
          <a:xfrm>
            <a:off x="1024128" y="1700784"/>
            <a:ext cx="3886200" cy="292608"/>
          </a:xfrm>
          <a:prstGeom prst="rect">
            <a:avLst/>
          </a:prstGeom>
          <a:noFill/>
          <a:ln/>
        </p:spPr>
        <p:txBody>
          <a:bodyPr wrap="square" lIns="0" tIns="0" rIns="0" bIns="0" rtlCol="0" anchor="ctr">
            <a:normAutofit/>
          </a:bodyPr>
          <a:lstStyle/>
          <a:p>
            <a:pPr algn="l" indent="0" marL="0">
              <a:buNone/>
            </a:pPr>
            <a:r>
              <a:rPr lang="en-US" sz="1280" b="1" dirty="0">
                <a:solidFill>
                  <a:srgbClr val="173149"/>
                </a:solidFill>
                <a:latin typeface="Noto Sans CJK KR" pitchFamily="34" charset="0"/>
                <a:ea typeface="Noto Sans CJK KR" pitchFamily="34" charset="-122"/>
                <a:cs typeface="Noto Sans CJK KR" pitchFamily="34" charset="-120"/>
              </a:rPr>
              <a:t>MCAD 프로젝트</a:t>
            </a:r>
            <a:endParaRPr lang="en-US" sz="1280" dirty="0"/>
          </a:p>
        </p:txBody>
      </p:sp>
      <p:sp>
        <p:nvSpPr>
          <p:cNvPr id="10" name="Text 8"/>
          <p:cNvSpPr txBox="1"/>
          <p:nvPr/>
        </p:nvSpPr>
        <p:spPr>
          <a:xfrm>
            <a:off x="5029200" y="1700784"/>
            <a:ext cx="5943600" cy="292608"/>
          </a:xfrm>
          <a:prstGeom prst="rect">
            <a:avLst/>
          </a:prstGeom>
          <a:noFill/>
          <a:ln/>
        </p:spPr>
        <p:txBody>
          <a:bodyPr wrap="square" lIns="0" tIns="0" rIns="0" bIns="0" rtlCol="0" anchor="ctr">
            <a:normAutofit/>
          </a:bodyPr>
          <a:lstStyle/>
          <a:p>
            <a:pPr algn="l" indent="0" marL="0">
              <a:buNone/>
            </a:pPr>
            <a:r>
              <a:rPr lang="en-US" sz="1120" dirty="0">
                <a:solidFill>
                  <a:srgbClr val="195C81"/>
                </a:solidFill>
                <a:latin typeface="Noto Sans CJK KR" pitchFamily="34" charset="0"/>
                <a:ea typeface="Noto Sans CJK KR" pitchFamily="34" charset="-122"/>
                <a:cs typeface="Noto Sans CJK KR" pitchFamily="34" charset="-120"/>
              </a:rPr>
              <a:t>nhlstenden.com/en/maritime-cyber-attack-database</a:t>
            </a:r>
            <a:endParaRPr lang="en-US" sz="1120" dirty="0"/>
          </a:p>
        </p:txBody>
      </p:sp>
      <p:sp>
        <p:nvSpPr>
          <p:cNvPr id="11" name="Shape 9"/>
          <p:cNvSpPr/>
          <p:nvPr/>
        </p:nvSpPr>
        <p:spPr>
          <a:xfrm>
            <a:off x="795528" y="2148840"/>
            <a:ext cx="10488168" cy="457200"/>
          </a:xfrm>
          <a:prstGeom prst="roundRect">
            <a:avLst>
              <a:gd name="adj" fmla="val 30000"/>
            </a:avLst>
          </a:prstGeom>
          <a:solidFill>
            <a:srgbClr val="EDF4F7"/>
          </a:solidFill>
          <a:ln w="12700">
            <a:solidFill>
              <a:srgbClr val="EDF4F7">
                <a:alpha val="0"/>
              </a:srgbClr>
            </a:solidFill>
            <a:prstDash val="solid"/>
          </a:ln>
        </p:spPr>
      </p:sp>
      <p:sp>
        <p:nvSpPr>
          <p:cNvPr id="12" name="Text 10"/>
          <p:cNvSpPr txBox="1"/>
          <p:nvPr/>
        </p:nvSpPr>
        <p:spPr>
          <a:xfrm>
            <a:off x="1024128" y="2231136"/>
            <a:ext cx="3886200" cy="292608"/>
          </a:xfrm>
          <a:prstGeom prst="rect">
            <a:avLst/>
          </a:prstGeom>
          <a:noFill/>
          <a:ln/>
        </p:spPr>
        <p:txBody>
          <a:bodyPr wrap="square" lIns="0" tIns="0" rIns="0" bIns="0" rtlCol="0" anchor="ctr">
            <a:normAutofit/>
          </a:bodyPr>
          <a:lstStyle/>
          <a:p>
            <a:pPr algn="l" indent="0" marL="0">
              <a:buNone/>
            </a:pPr>
            <a:r>
              <a:rPr lang="en-US" sz="1280" b="1" dirty="0">
                <a:solidFill>
                  <a:srgbClr val="173149"/>
                </a:solidFill>
                <a:latin typeface="Noto Sans CJK KR" pitchFamily="34" charset="0"/>
                <a:ea typeface="Noto Sans CJK KR" pitchFamily="34" charset="-122"/>
                <a:cs typeface="Noto Sans CJK KR" pitchFamily="34" charset="-120"/>
              </a:rPr>
              <a:t>Pijpker &amp; McCombie (ICCWS, 2026)</a:t>
            </a:r>
            <a:endParaRPr lang="en-US" sz="1280" dirty="0"/>
          </a:p>
        </p:txBody>
      </p:sp>
      <p:sp>
        <p:nvSpPr>
          <p:cNvPr id="13" name="Text 11"/>
          <p:cNvSpPr txBox="1"/>
          <p:nvPr/>
        </p:nvSpPr>
        <p:spPr>
          <a:xfrm>
            <a:off x="5029200" y="2231136"/>
            <a:ext cx="5943600" cy="292608"/>
          </a:xfrm>
          <a:prstGeom prst="rect">
            <a:avLst/>
          </a:prstGeom>
          <a:noFill/>
          <a:ln/>
        </p:spPr>
        <p:txBody>
          <a:bodyPr wrap="square" lIns="0" tIns="0" rIns="0" bIns="0" rtlCol="0" anchor="ctr">
            <a:normAutofit/>
          </a:bodyPr>
          <a:lstStyle/>
          <a:p>
            <a:pPr algn="l" indent="0" marL="0">
              <a:buNone/>
            </a:pPr>
            <a:r>
              <a:rPr lang="en-US" sz="1120" dirty="0">
                <a:solidFill>
                  <a:srgbClr val="195C81"/>
                </a:solidFill>
                <a:latin typeface="Noto Sans CJK KR" pitchFamily="34" charset="0"/>
                <a:ea typeface="Noto Sans CJK KR" pitchFamily="34" charset="-122"/>
                <a:cs typeface="Noto Sans CJK KR" pitchFamily="34" charset="-120"/>
              </a:rPr>
              <a:t>doi.org/10.34190/iccws.21.1.4397</a:t>
            </a:r>
            <a:endParaRPr lang="en-US" sz="1120" dirty="0"/>
          </a:p>
        </p:txBody>
      </p:sp>
      <p:sp>
        <p:nvSpPr>
          <p:cNvPr id="14" name="Shape 12"/>
          <p:cNvSpPr/>
          <p:nvPr/>
        </p:nvSpPr>
        <p:spPr>
          <a:xfrm>
            <a:off x="795528" y="2679192"/>
            <a:ext cx="10488168" cy="457200"/>
          </a:xfrm>
          <a:prstGeom prst="roundRect">
            <a:avLst>
              <a:gd name="adj" fmla="val 30000"/>
            </a:avLst>
          </a:prstGeom>
          <a:solidFill>
            <a:srgbClr val="FFFFFF"/>
          </a:solidFill>
          <a:ln w="12700">
            <a:solidFill>
              <a:srgbClr val="FFFFFF">
                <a:alpha val="0"/>
              </a:srgbClr>
            </a:solidFill>
            <a:prstDash val="solid"/>
          </a:ln>
        </p:spPr>
      </p:sp>
      <p:sp>
        <p:nvSpPr>
          <p:cNvPr id="15" name="Text 13"/>
          <p:cNvSpPr txBox="1"/>
          <p:nvPr/>
        </p:nvSpPr>
        <p:spPr>
          <a:xfrm>
            <a:off x="1024128" y="2761488"/>
            <a:ext cx="3886200" cy="292608"/>
          </a:xfrm>
          <a:prstGeom prst="rect">
            <a:avLst/>
          </a:prstGeom>
          <a:noFill/>
          <a:ln/>
        </p:spPr>
        <p:txBody>
          <a:bodyPr wrap="square" lIns="0" tIns="0" rIns="0" bIns="0" rtlCol="0" anchor="ctr">
            <a:normAutofit/>
          </a:bodyPr>
          <a:lstStyle/>
          <a:p>
            <a:pPr algn="l" indent="0" marL="0">
              <a:buNone/>
            </a:pPr>
            <a:r>
              <a:rPr lang="en-US" sz="1280" b="1" dirty="0">
                <a:solidFill>
                  <a:srgbClr val="173149"/>
                </a:solidFill>
                <a:latin typeface="Noto Sans CJK KR" pitchFamily="34" charset="0"/>
                <a:ea typeface="Noto Sans CJK KR" pitchFamily="34" charset="-122"/>
                <a:cs typeface="Noto Sans CJK KR" pitchFamily="34" charset="-120"/>
              </a:rPr>
              <a:t>M-CERT ADMIRAL</a:t>
            </a:r>
            <a:endParaRPr lang="en-US" sz="1280" dirty="0"/>
          </a:p>
        </p:txBody>
      </p:sp>
      <p:sp>
        <p:nvSpPr>
          <p:cNvPr id="16" name="Text 14"/>
          <p:cNvSpPr txBox="1"/>
          <p:nvPr/>
        </p:nvSpPr>
        <p:spPr>
          <a:xfrm>
            <a:off x="5029200" y="2761488"/>
            <a:ext cx="5943600" cy="292608"/>
          </a:xfrm>
          <a:prstGeom prst="rect">
            <a:avLst/>
          </a:prstGeom>
          <a:noFill/>
          <a:ln/>
        </p:spPr>
        <p:txBody>
          <a:bodyPr wrap="square" lIns="0" tIns="0" rIns="0" bIns="0" rtlCol="0" anchor="ctr">
            <a:normAutofit/>
          </a:bodyPr>
          <a:lstStyle/>
          <a:p>
            <a:pPr algn="l" indent="0" marL="0">
              <a:buNone/>
            </a:pPr>
            <a:r>
              <a:rPr lang="en-US" sz="1120" dirty="0">
                <a:solidFill>
                  <a:srgbClr val="195C81"/>
                </a:solidFill>
                <a:latin typeface="Noto Sans CJK KR" pitchFamily="34" charset="0"/>
                <a:ea typeface="Noto Sans CJK KR" pitchFamily="34" charset="-122"/>
                <a:cs typeface="Noto Sans CJK KR" pitchFamily="34" charset="-120"/>
              </a:rPr>
              <a:t>m-cert.fr/admiral/</a:t>
            </a:r>
            <a:endParaRPr lang="en-US" sz="1120" dirty="0"/>
          </a:p>
        </p:txBody>
      </p:sp>
      <p:sp>
        <p:nvSpPr>
          <p:cNvPr id="17" name="Shape 15"/>
          <p:cNvSpPr/>
          <p:nvPr/>
        </p:nvSpPr>
        <p:spPr>
          <a:xfrm>
            <a:off x="795528" y="3209544"/>
            <a:ext cx="10488168" cy="457200"/>
          </a:xfrm>
          <a:prstGeom prst="roundRect">
            <a:avLst>
              <a:gd name="adj" fmla="val 30000"/>
            </a:avLst>
          </a:prstGeom>
          <a:solidFill>
            <a:srgbClr val="EDF4F7"/>
          </a:solidFill>
          <a:ln w="12700">
            <a:solidFill>
              <a:srgbClr val="EDF4F7">
                <a:alpha val="0"/>
              </a:srgbClr>
            </a:solidFill>
            <a:prstDash val="solid"/>
          </a:ln>
        </p:spPr>
      </p:sp>
      <p:sp>
        <p:nvSpPr>
          <p:cNvPr id="18" name="Text 16"/>
          <p:cNvSpPr txBox="1"/>
          <p:nvPr/>
        </p:nvSpPr>
        <p:spPr>
          <a:xfrm>
            <a:off x="1024128" y="3291840"/>
            <a:ext cx="3886200" cy="292608"/>
          </a:xfrm>
          <a:prstGeom prst="rect">
            <a:avLst/>
          </a:prstGeom>
          <a:noFill/>
          <a:ln/>
        </p:spPr>
        <p:txBody>
          <a:bodyPr wrap="square" lIns="0" tIns="0" rIns="0" bIns="0" rtlCol="0" anchor="ctr">
            <a:normAutofit/>
          </a:bodyPr>
          <a:lstStyle/>
          <a:p>
            <a:pPr algn="l" indent="0" marL="0">
              <a:buNone/>
            </a:pPr>
            <a:r>
              <a:rPr lang="en-US" sz="1280" b="1" dirty="0">
                <a:solidFill>
                  <a:srgbClr val="173149"/>
                </a:solidFill>
                <a:latin typeface="Noto Sans CJK KR" pitchFamily="34" charset="0"/>
                <a:ea typeface="Noto Sans CJK KR" pitchFamily="34" charset="-122"/>
                <a:cs typeface="Noto Sans CJK KR" pitchFamily="34" charset="-120"/>
              </a:rPr>
              <a:t>USCG Marine Safety Alert 06-19</a:t>
            </a:r>
            <a:endParaRPr lang="en-US" sz="1280" dirty="0"/>
          </a:p>
        </p:txBody>
      </p:sp>
      <p:sp>
        <p:nvSpPr>
          <p:cNvPr id="19" name="Text 17"/>
          <p:cNvSpPr txBox="1"/>
          <p:nvPr/>
        </p:nvSpPr>
        <p:spPr>
          <a:xfrm>
            <a:off x="5029200" y="3291840"/>
            <a:ext cx="5943600" cy="292608"/>
          </a:xfrm>
          <a:prstGeom prst="rect">
            <a:avLst/>
          </a:prstGeom>
          <a:noFill/>
          <a:ln/>
        </p:spPr>
        <p:txBody>
          <a:bodyPr wrap="square" lIns="0" tIns="0" rIns="0" bIns="0" rtlCol="0" anchor="ctr">
            <a:normAutofit/>
          </a:bodyPr>
          <a:lstStyle/>
          <a:p>
            <a:pPr algn="l" indent="0" marL="0">
              <a:buNone/>
            </a:pPr>
            <a:r>
              <a:rPr lang="en-US" sz="1120" dirty="0">
                <a:solidFill>
                  <a:srgbClr val="195C81"/>
                </a:solidFill>
                <a:latin typeface="Noto Sans CJK KR" pitchFamily="34" charset="0"/>
                <a:ea typeface="Noto Sans CJK KR" pitchFamily="34" charset="-122"/>
                <a:cs typeface="Noto Sans CJK KR" pitchFamily="34" charset="-120"/>
              </a:rPr>
              <a:t>dco.uscg.mil/.../Alerts/0619.pdf</a:t>
            </a:r>
            <a:endParaRPr lang="en-US" sz="1120" dirty="0"/>
          </a:p>
        </p:txBody>
      </p:sp>
      <p:sp>
        <p:nvSpPr>
          <p:cNvPr id="20" name="Shape 18"/>
          <p:cNvSpPr/>
          <p:nvPr/>
        </p:nvSpPr>
        <p:spPr>
          <a:xfrm>
            <a:off x="795528" y="3739896"/>
            <a:ext cx="10488168" cy="457200"/>
          </a:xfrm>
          <a:prstGeom prst="roundRect">
            <a:avLst>
              <a:gd name="adj" fmla="val 30000"/>
            </a:avLst>
          </a:prstGeom>
          <a:solidFill>
            <a:srgbClr val="FFFFFF"/>
          </a:solidFill>
          <a:ln w="12700">
            <a:solidFill>
              <a:srgbClr val="FFFFFF">
                <a:alpha val="0"/>
              </a:srgbClr>
            </a:solidFill>
            <a:prstDash val="solid"/>
          </a:ln>
        </p:spPr>
      </p:sp>
      <p:sp>
        <p:nvSpPr>
          <p:cNvPr id="21" name="Text 19"/>
          <p:cNvSpPr txBox="1"/>
          <p:nvPr/>
        </p:nvSpPr>
        <p:spPr>
          <a:xfrm>
            <a:off x="1024128" y="3822192"/>
            <a:ext cx="3886200" cy="292608"/>
          </a:xfrm>
          <a:prstGeom prst="rect">
            <a:avLst/>
          </a:prstGeom>
          <a:noFill/>
          <a:ln/>
        </p:spPr>
        <p:txBody>
          <a:bodyPr wrap="square" lIns="0" tIns="0" rIns="0" bIns="0" rtlCol="0" anchor="ctr">
            <a:normAutofit/>
          </a:bodyPr>
          <a:lstStyle/>
          <a:p>
            <a:pPr algn="l" indent="0" marL="0">
              <a:buNone/>
            </a:pPr>
            <a:r>
              <a:rPr lang="en-US" sz="1280" b="1" dirty="0">
                <a:solidFill>
                  <a:srgbClr val="173149"/>
                </a:solidFill>
                <a:latin typeface="Noto Sans CJK KR" pitchFamily="34" charset="0"/>
                <a:ea typeface="Noto Sans CJK KR" pitchFamily="34" charset="-122"/>
                <a:cs typeface="Noto Sans CJK KR" pitchFamily="34" charset="-120"/>
              </a:rPr>
              <a:t>IMO Maritime cyber risk / Rev.4</a:t>
            </a:r>
            <a:endParaRPr lang="en-US" sz="1280" dirty="0"/>
          </a:p>
        </p:txBody>
      </p:sp>
      <p:sp>
        <p:nvSpPr>
          <p:cNvPr id="22" name="Text 20"/>
          <p:cNvSpPr txBox="1"/>
          <p:nvPr/>
        </p:nvSpPr>
        <p:spPr>
          <a:xfrm>
            <a:off x="5029200" y="3822192"/>
            <a:ext cx="5943600" cy="292608"/>
          </a:xfrm>
          <a:prstGeom prst="rect">
            <a:avLst/>
          </a:prstGeom>
          <a:noFill/>
          <a:ln/>
        </p:spPr>
        <p:txBody>
          <a:bodyPr wrap="square" lIns="0" tIns="0" rIns="0" bIns="0" rtlCol="0" anchor="ctr">
            <a:normAutofit/>
          </a:bodyPr>
          <a:lstStyle/>
          <a:p>
            <a:pPr algn="l" indent="0" marL="0">
              <a:buNone/>
            </a:pPr>
            <a:r>
              <a:rPr lang="en-US" sz="1120" dirty="0">
                <a:solidFill>
                  <a:srgbClr val="195C81"/>
                </a:solidFill>
                <a:latin typeface="Noto Sans CJK KR" pitchFamily="34" charset="0"/>
                <a:ea typeface="Noto Sans CJK KR" pitchFamily="34" charset="-122"/>
                <a:cs typeface="Noto Sans CJK KR" pitchFamily="34" charset="-120"/>
              </a:rPr>
              <a:t>imo.org/en/ourwork/security/pages/cyber-security.aspx</a:t>
            </a:r>
            <a:endParaRPr lang="en-US" sz="1120" dirty="0"/>
          </a:p>
        </p:txBody>
      </p:sp>
      <p:sp>
        <p:nvSpPr>
          <p:cNvPr id="23" name="Shape 21"/>
          <p:cNvSpPr/>
          <p:nvPr/>
        </p:nvSpPr>
        <p:spPr>
          <a:xfrm>
            <a:off x="795528" y="4270248"/>
            <a:ext cx="10488168" cy="457200"/>
          </a:xfrm>
          <a:prstGeom prst="roundRect">
            <a:avLst>
              <a:gd name="adj" fmla="val 30000"/>
            </a:avLst>
          </a:prstGeom>
          <a:solidFill>
            <a:srgbClr val="EDF4F7"/>
          </a:solidFill>
          <a:ln w="12700">
            <a:solidFill>
              <a:srgbClr val="EDF4F7">
                <a:alpha val="0"/>
              </a:srgbClr>
            </a:solidFill>
            <a:prstDash val="solid"/>
          </a:ln>
        </p:spPr>
      </p:sp>
      <p:sp>
        <p:nvSpPr>
          <p:cNvPr id="24" name="Text 22"/>
          <p:cNvSpPr txBox="1"/>
          <p:nvPr/>
        </p:nvSpPr>
        <p:spPr>
          <a:xfrm>
            <a:off x="1024128" y="4352544"/>
            <a:ext cx="3886200" cy="292608"/>
          </a:xfrm>
          <a:prstGeom prst="rect">
            <a:avLst/>
          </a:prstGeom>
          <a:noFill/>
          <a:ln/>
        </p:spPr>
        <p:txBody>
          <a:bodyPr wrap="square" lIns="0" tIns="0" rIns="0" bIns="0" rtlCol="0" anchor="ctr">
            <a:normAutofit/>
          </a:bodyPr>
          <a:lstStyle/>
          <a:p>
            <a:pPr algn="l" indent="0" marL="0">
              <a:buNone/>
            </a:pPr>
            <a:r>
              <a:rPr lang="en-US" sz="1280" b="1" dirty="0">
                <a:solidFill>
                  <a:srgbClr val="173149"/>
                </a:solidFill>
                <a:latin typeface="Noto Sans CJK KR" pitchFamily="34" charset="0"/>
                <a:ea typeface="Noto Sans CJK KR" pitchFamily="34" charset="-122"/>
                <a:cs typeface="Noto Sans CJK KR" pitchFamily="34" charset="-120"/>
              </a:rPr>
              <a:t>IACS UR E26/E27</a:t>
            </a:r>
            <a:endParaRPr lang="en-US" sz="1280" dirty="0"/>
          </a:p>
        </p:txBody>
      </p:sp>
      <p:sp>
        <p:nvSpPr>
          <p:cNvPr id="25" name="Text 23"/>
          <p:cNvSpPr txBox="1"/>
          <p:nvPr/>
        </p:nvSpPr>
        <p:spPr>
          <a:xfrm>
            <a:off x="5029200" y="4352544"/>
            <a:ext cx="5943600" cy="292608"/>
          </a:xfrm>
          <a:prstGeom prst="rect">
            <a:avLst/>
          </a:prstGeom>
          <a:noFill/>
          <a:ln/>
        </p:spPr>
        <p:txBody>
          <a:bodyPr wrap="square" lIns="0" tIns="0" rIns="0" bIns="0" rtlCol="0" anchor="ctr">
            <a:normAutofit/>
          </a:bodyPr>
          <a:lstStyle/>
          <a:p>
            <a:pPr algn="l" indent="0" marL="0">
              <a:buNone/>
            </a:pPr>
            <a:r>
              <a:rPr lang="en-US" sz="1120" dirty="0">
                <a:solidFill>
                  <a:srgbClr val="195C81"/>
                </a:solidFill>
                <a:latin typeface="Noto Sans CJK KR" pitchFamily="34" charset="0"/>
                <a:ea typeface="Noto Sans CJK KR" pitchFamily="34" charset="-122"/>
                <a:cs typeface="Noto Sans CJK KR" pitchFamily="34" charset="-120"/>
              </a:rPr>
              <a:t>iacs.org.uk/news/iacs-ur-e26-and-e27-press-release</a:t>
            </a:r>
            <a:endParaRPr lang="en-US" sz="1120" dirty="0"/>
          </a:p>
        </p:txBody>
      </p:sp>
      <p:sp>
        <p:nvSpPr>
          <p:cNvPr id="26" name="Shape 24"/>
          <p:cNvSpPr/>
          <p:nvPr/>
        </p:nvSpPr>
        <p:spPr>
          <a:xfrm>
            <a:off x="795528" y="4800600"/>
            <a:ext cx="10488168" cy="457200"/>
          </a:xfrm>
          <a:prstGeom prst="roundRect">
            <a:avLst>
              <a:gd name="adj" fmla="val 30000"/>
            </a:avLst>
          </a:prstGeom>
          <a:solidFill>
            <a:srgbClr val="FFFFFF"/>
          </a:solidFill>
          <a:ln w="12700">
            <a:solidFill>
              <a:srgbClr val="FFFFFF">
                <a:alpha val="0"/>
              </a:srgbClr>
            </a:solidFill>
            <a:prstDash val="solid"/>
          </a:ln>
        </p:spPr>
      </p:sp>
      <p:sp>
        <p:nvSpPr>
          <p:cNvPr id="27" name="Text 25"/>
          <p:cNvSpPr txBox="1"/>
          <p:nvPr/>
        </p:nvSpPr>
        <p:spPr>
          <a:xfrm>
            <a:off x="1024128" y="4882896"/>
            <a:ext cx="3886200" cy="292608"/>
          </a:xfrm>
          <a:prstGeom prst="rect">
            <a:avLst/>
          </a:prstGeom>
          <a:noFill/>
          <a:ln/>
        </p:spPr>
        <p:txBody>
          <a:bodyPr wrap="square" lIns="0" tIns="0" rIns="0" bIns="0" rtlCol="0" anchor="ctr">
            <a:normAutofit/>
          </a:bodyPr>
          <a:lstStyle/>
          <a:p>
            <a:pPr algn="l" indent="0" marL="0">
              <a:buNone/>
            </a:pPr>
            <a:r>
              <a:rPr lang="en-US" sz="1280" b="1" dirty="0">
                <a:solidFill>
                  <a:srgbClr val="173149"/>
                </a:solidFill>
                <a:latin typeface="Noto Sans CJK KR" pitchFamily="34" charset="0"/>
                <a:ea typeface="Noto Sans CJK KR" pitchFamily="34" charset="-122"/>
                <a:cs typeface="Noto Sans CJK KR" pitchFamily="34" charset="-120"/>
              </a:rPr>
              <a:t>BIMCO Guidelines v5 (2024)</a:t>
            </a:r>
            <a:endParaRPr lang="en-US" sz="1280" dirty="0"/>
          </a:p>
        </p:txBody>
      </p:sp>
      <p:sp>
        <p:nvSpPr>
          <p:cNvPr id="28" name="Text 26"/>
          <p:cNvSpPr txBox="1"/>
          <p:nvPr/>
        </p:nvSpPr>
        <p:spPr>
          <a:xfrm>
            <a:off x="5029200" y="4882896"/>
            <a:ext cx="5943600" cy="292608"/>
          </a:xfrm>
          <a:prstGeom prst="rect">
            <a:avLst/>
          </a:prstGeom>
          <a:noFill/>
          <a:ln/>
        </p:spPr>
        <p:txBody>
          <a:bodyPr wrap="square" lIns="0" tIns="0" rIns="0" bIns="0" rtlCol="0" anchor="ctr">
            <a:normAutofit/>
          </a:bodyPr>
          <a:lstStyle/>
          <a:p>
            <a:pPr algn="l" indent="0" marL="0">
              <a:buNone/>
            </a:pPr>
            <a:r>
              <a:rPr lang="en-US" sz="1120" dirty="0">
                <a:solidFill>
                  <a:srgbClr val="195C81"/>
                </a:solidFill>
                <a:latin typeface="Noto Sans CJK KR" pitchFamily="34" charset="0"/>
                <a:ea typeface="Noto Sans CJK KR" pitchFamily="34" charset="-122"/>
                <a:cs typeface="Noto Sans CJK KR" pitchFamily="34" charset="-120"/>
              </a:rPr>
              <a:t>bimco.org/.../guidelines_on_cyber_security-v5-final.pdf</a:t>
            </a:r>
            <a:endParaRPr lang="en-US" sz="1120" dirty="0"/>
          </a:p>
        </p:txBody>
      </p:sp>
      <p:sp>
        <p:nvSpPr>
          <p:cNvPr id="29" name="Shape 27"/>
          <p:cNvSpPr/>
          <p:nvPr/>
        </p:nvSpPr>
        <p:spPr>
          <a:xfrm>
            <a:off x="795528" y="5330952"/>
            <a:ext cx="10488168" cy="457200"/>
          </a:xfrm>
          <a:prstGeom prst="roundRect">
            <a:avLst>
              <a:gd name="adj" fmla="val 30000"/>
            </a:avLst>
          </a:prstGeom>
          <a:solidFill>
            <a:srgbClr val="EDF4F7"/>
          </a:solidFill>
          <a:ln w="12700">
            <a:solidFill>
              <a:srgbClr val="EDF4F7">
                <a:alpha val="0"/>
              </a:srgbClr>
            </a:solidFill>
            <a:prstDash val="solid"/>
          </a:ln>
        </p:spPr>
      </p:sp>
      <p:sp>
        <p:nvSpPr>
          <p:cNvPr id="30" name="Text 28"/>
          <p:cNvSpPr txBox="1"/>
          <p:nvPr/>
        </p:nvSpPr>
        <p:spPr>
          <a:xfrm>
            <a:off x="1024128" y="5413248"/>
            <a:ext cx="3886200" cy="292608"/>
          </a:xfrm>
          <a:prstGeom prst="rect">
            <a:avLst/>
          </a:prstGeom>
          <a:noFill/>
          <a:ln/>
        </p:spPr>
        <p:txBody>
          <a:bodyPr wrap="square" lIns="0" tIns="0" rIns="0" bIns="0" rtlCol="0" anchor="ctr">
            <a:normAutofit/>
          </a:bodyPr>
          <a:lstStyle/>
          <a:p>
            <a:pPr algn="l" indent="0" marL="0">
              <a:buNone/>
            </a:pPr>
            <a:r>
              <a:rPr lang="en-US" sz="1280" b="1" dirty="0">
                <a:solidFill>
                  <a:srgbClr val="173149"/>
                </a:solidFill>
                <a:latin typeface="Noto Sans CJK KR" pitchFamily="34" charset="0"/>
                <a:ea typeface="Noto Sans CJK KR" pitchFamily="34" charset="-122"/>
                <a:cs typeface="Noto Sans CJK KR" pitchFamily="34" charset="-120"/>
              </a:rPr>
              <a:t>NIST SP 800-84</a:t>
            </a:r>
            <a:endParaRPr lang="en-US" sz="1280" dirty="0"/>
          </a:p>
        </p:txBody>
      </p:sp>
      <p:sp>
        <p:nvSpPr>
          <p:cNvPr id="31" name="Text 29"/>
          <p:cNvSpPr txBox="1"/>
          <p:nvPr/>
        </p:nvSpPr>
        <p:spPr>
          <a:xfrm>
            <a:off x="5029200" y="5413248"/>
            <a:ext cx="5943600" cy="292608"/>
          </a:xfrm>
          <a:prstGeom prst="rect">
            <a:avLst/>
          </a:prstGeom>
          <a:noFill/>
          <a:ln/>
        </p:spPr>
        <p:txBody>
          <a:bodyPr wrap="square" lIns="0" tIns="0" rIns="0" bIns="0" rtlCol="0" anchor="ctr">
            <a:normAutofit/>
          </a:bodyPr>
          <a:lstStyle/>
          <a:p>
            <a:pPr algn="l" indent="0" marL="0">
              <a:buNone/>
            </a:pPr>
            <a:r>
              <a:rPr lang="en-US" sz="1120" dirty="0">
                <a:solidFill>
                  <a:srgbClr val="195C81"/>
                </a:solidFill>
                <a:latin typeface="Noto Sans CJK KR" pitchFamily="34" charset="0"/>
                <a:ea typeface="Noto Sans CJK KR" pitchFamily="34" charset="-122"/>
                <a:cs typeface="Noto Sans CJK KR" pitchFamily="34" charset="-120"/>
              </a:rPr>
              <a:t>csrc.nist.gov/pubs/sp/800/84/final</a:t>
            </a:r>
            <a:endParaRPr lang="en-US" sz="1120" dirty="0"/>
          </a:p>
        </p:txBody>
      </p:sp>
      <p:sp>
        <p:nvSpPr>
          <p:cNvPr id="32" name="Shape 30"/>
          <p:cNvSpPr/>
          <p:nvPr/>
        </p:nvSpPr>
        <p:spPr>
          <a:xfrm>
            <a:off x="795528" y="6099048"/>
            <a:ext cx="10515600" cy="192024"/>
          </a:xfrm>
          <a:prstGeom prst="roundRect">
            <a:avLst>
              <a:gd name="adj" fmla="val 71429"/>
            </a:avLst>
          </a:prstGeom>
          <a:solidFill>
            <a:srgbClr val="E6F2F5"/>
          </a:solidFill>
          <a:ln w="12700">
            <a:solidFill>
              <a:srgbClr val="E6F2F5">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Maritime Threat Hub | Graduation Defense Draft</dc:title>
  <dc:subject>공개 해양 사이버사고 데이터 기반 대응 지원 시스템 — 심사 발표용 조건부 초안</dc:subject>
  <dc:creator>Maritime Threat Hub — research support</dc:creator>
  <cp:lastModifiedBy>Maritime Threat Hub — research support</cp:lastModifiedBy>
  <cp:revision>1</cp:revision>
  <dcterms:created xsi:type="dcterms:W3CDTF">2026-10-30T01:52:21Z</dcterms:created>
  <dcterms:modified xsi:type="dcterms:W3CDTF">2026-10-30T01:52:21Z</dcterms:modified>
</cp:coreProperties>
</file>